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64" r:id="rId4"/>
    <p:sldId id="265" r:id="rId5"/>
    <p:sldId id="266" r:id="rId6"/>
    <p:sldId id="271" r:id="rId7"/>
    <p:sldId id="270" r:id="rId8"/>
    <p:sldId id="272" r:id="rId9"/>
    <p:sldId id="273" r:id="rId10"/>
    <p:sldId id="288" r:id="rId11"/>
    <p:sldId id="289" r:id="rId12"/>
    <p:sldId id="290" r:id="rId13"/>
    <p:sldId id="274" r:id="rId14"/>
    <p:sldId id="275" r:id="rId15"/>
    <p:sldId id="291" r:id="rId16"/>
    <p:sldId id="276" r:id="rId17"/>
    <p:sldId id="293" r:id="rId18"/>
    <p:sldId id="277" r:id="rId19"/>
    <p:sldId id="278" r:id="rId20"/>
    <p:sldId id="279" r:id="rId21"/>
    <p:sldId id="280" r:id="rId22"/>
    <p:sldId id="281" r:id="rId23"/>
    <p:sldId id="282" r:id="rId24"/>
    <p:sldId id="294" r:id="rId25"/>
    <p:sldId id="283" r:id="rId26"/>
    <p:sldId id="284" r:id="rId27"/>
    <p:sldId id="286" r:id="rId28"/>
    <p:sldId id="285" r:id="rId29"/>
    <p:sldId id="287" r:id="rId30"/>
    <p:sldId id="295" r:id="rId31"/>
    <p:sldId id="296" r:id="rId32"/>
    <p:sldId id="297" r:id="rId33"/>
    <p:sldId id="269" r:id="rId34"/>
    <p:sldId id="299" r:id="rId35"/>
    <p:sldId id="300" r:id="rId36"/>
    <p:sldId id="267" r:id="rId37"/>
    <p:sldId id="301" r:id="rId38"/>
    <p:sldId id="302" r:id="rId39"/>
    <p:sldId id="303" r:id="rId40"/>
    <p:sldId id="304" r:id="rId41"/>
    <p:sldId id="308" r:id="rId42"/>
    <p:sldId id="305" r:id="rId43"/>
    <p:sldId id="306" r:id="rId44"/>
    <p:sldId id="307" r:id="rId45"/>
    <p:sldId id="268" r:id="rId46"/>
  </p:sldIdLst>
  <p:sldSz cx="24384000" cy="13716000"/>
  <p:notesSz cx="6858000" cy="9144000"/>
  <p:embeddedFontLst>
    <p:embeddedFont>
      <p:font typeface="Pretendard Bold" panose="020B0600000101010101" charset="-127"/>
      <p:bold r:id="rId48"/>
    </p:embeddedFont>
    <p:embeddedFont>
      <p:font typeface="Pretendard Regular" panose="020B0600000101010101" charset="-127"/>
      <p:regular r:id="rId49"/>
    </p:embeddedFont>
    <p:embeddedFont>
      <p:font typeface="Pretendard ExtraLight" panose="020B0600000101010101" charset="-127"/>
      <p:regular r:id="rId50"/>
    </p:embeddedFon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Pretendard SemiBold" panose="020B0600000101010101" charset="-127"/>
      <p:bold r:id="rId55"/>
    </p:embeddedFont>
    <p:embeddedFont>
      <p:font typeface="맑은 고딕" panose="020B0503020000020004" pitchFamily="50" charset="-127"/>
      <p:regular r:id="rId56"/>
      <p:bold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498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439A4-77FB-4FAF-A40D-BA218EBB620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971A-5A01-465A-92C9-BACF96DA14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18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B971A-5A01-465A-92C9-BACF96DA147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657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2503-AECB-EF84-551D-CC84C5A0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8BC515-95C6-6FBD-1BD5-9E96DE14C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FA4C3E-2F44-1A50-E4FD-3A9676B21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46585-8100-968B-6454-F69058CAE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B971A-5A01-465A-92C9-BACF96DA147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606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B971A-5A01-465A-92C9-BACF96DA147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03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089400" y="4686300"/>
            <a:ext cx="16192500" cy="3962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20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RISC-V</a:t>
            </a:r>
          </a:p>
          <a:p>
            <a:pPr lvl="0" algn="ctr">
              <a:lnSpc>
                <a:spcPct val="99600"/>
              </a:lnSpc>
            </a:pPr>
            <a:r>
              <a:rPr lang="en-US" sz="120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RV32I </a:t>
            </a:r>
            <a:r>
              <a:rPr lang="ko-KR" altLang="en-US" sz="120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설계</a:t>
            </a:r>
            <a:endParaRPr lang="en-US" sz="12000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055100" y="9156700"/>
            <a:ext cx="6261100" cy="660400"/>
          </a:xfrm>
          <a:prstGeom prst="rect">
            <a:avLst/>
          </a:prstGeom>
        </p:spPr>
        <p:txBody>
          <a:bodyPr lIns="0" tIns="2370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3733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발표자</a:t>
            </a:r>
            <a:r>
              <a:rPr lang="en-US" sz="37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 </a:t>
            </a:r>
            <a:r>
              <a:rPr lang="en-US" sz="3733" b="0" i="0" u="none" strike="noStrike" dirty="0">
                <a:solidFill>
                  <a:srgbClr val="C2C2C2"/>
                </a:solidFill>
                <a:latin typeface="Pretendard ExtraLight"/>
                <a:ea typeface="Pretendard ExtraLight"/>
                <a:cs typeface="Pretendard ExtraLight"/>
              </a:rPr>
              <a:t>|</a:t>
            </a:r>
            <a:r>
              <a:rPr lang="en-US" sz="37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</a:t>
            </a:r>
            <a:r>
              <a:rPr lang="ko-KR" altLang="en-US" sz="37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최기훈</a:t>
            </a:r>
            <a:endParaRPr lang="en-US" sz="37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6000" y="11938000"/>
            <a:ext cx="34417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</a:t>
            </a:r>
            <a:r>
              <a:rPr lang="en-US" altLang="ko-KR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26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.0</a:t>
            </a:r>
            <a:r>
              <a:rPr lang="en-US" sz="3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686300" y="6057900"/>
            <a:ext cx="2413000" cy="166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93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477928"/>
              </p:ext>
            </p:extLst>
          </p:nvPr>
        </p:nvGraphicFramePr>
        <p:xfrm>
          <a:off x="11176000" y="4000500"/>
          <a:ext cx="4368800" cy="57150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 dirty="0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01</a:t>
                      </a:r>
                      <a:endParaRPr lang="en-US" sz="1100" dirty="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개요 및</a:t>
                      </a:r>
                      <a:r>
                        <a:rPr lang="ko-KR" altLang="en-US" sz="4266" b="0" i="0" u="none" strike="noStrike" baseline="0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목표</a:t>
                      </a:r>
                      <a:endParaRPr lang="en-US" sz="1100" dirty="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02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Design</a:t>
                      </a:r>
                      <a:r>
                        <a:rPr lang="ko-KR" altLang="en-US" sz="4266" b="0" i="0" u="none" strike="noStrike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altLang="ko-KR" sz="4266" b="0" i="0" u="none" strike="noStrike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B/D</a:t>
                      </a:r>
                      <a:endParaRPr lang="en-US" sz="1100" dirty="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03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4266" b="0" i="0" u="none" strike="noStrike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</a:rPr>
                        <a:t>TYPE</a:t>
                      </a:r>
                      <a:r>
                        <a:rPr lang="ko-KR" altLang="en-US" sz="4266" b="0" i="0" u="none" strike="noStrike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</a:rPr>
                        <a:t> 별 설명</a:t>
                      </a:r>
                      <a:endParaRPr lang="en-US" sz="1100" dirty="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612044"/>
              </p:ext>
            </p:extLst>
          </p:nvPr>
        </p:nvGraphicFramePr>
        <p:xfrm>
          <a:off x="16941800" y="4000500"/>
          <a:ext cx="4368800" cy="57150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04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4266" b="0" i="0" u="none" strike="noStrike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</a:rPr>
                        <a:t>1to10 adder</a:t>
                      </a:r>
                      <a:endParaRPr lang="en-US" sz="1100" dirty="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 dirty="0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05</a:t>
                      </a:r>
                      <a:endParaRPr lang="en-US" sz="1100" dirty="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Trouble shooting</a:t>
                      </a:r>
                      <a:endParaRPr lang="en-US" sz="1100" dirty="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 dirty="0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06</a:t>
                      </a:r>
                      <a:endParaRPr lang="en-US" sz="1100" dirty="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고찰</a:t>
                      </a:r>
                      <a:endParaRPr lang="en-US" sz="1100" dirty="0"/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개요 및 목적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4" descr="RISC-V와 5G · IoT의 시대, 새로운 도전의 시작 &lt; 칼럼 &lt; 오피니언 &lt; 기사본문 - 테크월드뉴스 - 쿤텍">
            <a:extLst>
              <a:ext uri="{FF2B5EF4-FFF2-40B4-BE49-F238E27FC236}">
                <a16:creationId xmlns:a16="http://schemas.microsoft.com/office/drawing/2014/main" id="{843233FA-A417-9924-2C30-2BED9057D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254948"/>
            <a:ext cx="7213325" cy="200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45D7D2-54EE-B232-3C98-05F0D93C48C4}"/>
              </a:ext>
            </a:extLst>
          </p:cNvPr>
          <p:cNvSpPr txBox="1"/>
          <p:nvPr/>
        </p:nvSpPr>
        <p:spPr>
          <a:xfrm>
            <a:off x="11811000" y="2254948"/>
            <a:ext cx="917270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RISC (Reduced Instruction Set Computer)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구조</a:t>
            </a: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-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기존의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CISC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보다 적은 수의 명령어</a:t>
            </a: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-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여러 타입의 명령어를 통한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CPU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제어</a:t>
            </a: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-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회로 구성이 단순하며 기본적으로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32bit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명령어를 사용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8242A-F25B-47D1-18C8-FE1D9CF7A523}"/>
              </a:ext>
            </a:extLst>
          </p:cNvPr>
          <p:cNvSpPr txBox="1"/>
          <p:nvPr/>
        </p:nvSpPr>
        <p:spPr>
          <a:xfrm>
            <a:off x="2233018" y="6663122"/>
            <a:ext cx="777648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1.SystemVerilog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를 이용한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RV32I CPU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 구현</a:t>
            </a: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-ALU,MEM,PC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등 여러 모듈을 구현</a:t>
            </a: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-RAM/ROM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메모리 구조 이해 및 활용</a:t>
            </a: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-RISC-V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명령어의 이해 및 활용</a:t>
            </a: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9134C6-0D08-4A0A-43C8-7154CAC89124}"/>
              </a:ext>
            </a:extLst>
          </p:cNvPr>
          <p:cNvSpPr txBox="1"/>
          <p:nvPr/>
        </p:nvSpPr>
        <p:spPr>
          <a:xfrm>
            <a:off x="13222445" y="6663122"/>
            <a:ext cx="634981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2.RISC-V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구조 활용</a:t>
            </a: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marL="457200" indent="-457200" algn="ctr">
              <a:buFontTx/>
              <a:buChar char="-"/>
            </a:pP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각 타입 명령어 및 동작의 이해</a:t>
            </a: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marL="457200" indent="-457200" algn="ctr">
              <a:buFontTx/>
              <a:buChar char="-"/>
            </a:pP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marL="457200" indent="-457200" algn="ctr">
              <a:buFontTx/>
              <a:buChar char="-"/>
            </a:pP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C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언어 동작을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RISC-V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를 통해 구현</a:t>
            </a: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1492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Design B/D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6CA073-B3A2-A844-442A-E2A6AC908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618488"/>
            <a:ext cx="11099697" cy="104790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6FAE1C-DA09-8205-3F5D-895FFB1005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49200" y="1963487"/>
            <a:ext cx="11393490" cy="35914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3072A9-8E5A-730A-D1FA-B6713EED73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25727" y="6763042"/>
            <a:ext cx="8840434" cy="3762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464582-B8A0-9044-5AFC-32237EDFE995}"/>
              </a:ext>
            </a:extLst>
          </p:cNvPr>
          <p:cNvSpPr txBox="1"/>
          <p:nvPr/>
        </p:nvSpPr>
        <p:spPr>
          <a:xfrm>
            <a:off x="17319061" y="5731342"/>
            <a:ext cx="20537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전체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회로도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718482-D47F-2F81-4317-BC78C55B4153}"/>
              </a:ext>
            </a:extLst>
          </p:cNvPr>
          <p:cNvSpPr txBox="1"/>
          <p:nvPr/>
        </p:nvSpPr>
        <p:spPr>
          <a:xfrm>
            <a:off x="17432072" y="10939339"/>
            <a:ext cx="18277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CPU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회로</a:t>
            </a:r>
          </a:p>
        </p:txBody>
      </p:sp>
    </p:spTree>
    <p:extLst>
      <p:ext uri="{BB962C8B-B14F-4D97-AF65-F5344CB8AC3E}">
        <p14:creationId xmlns:p14="http://schemas.microsoft.com/office/powerpoint/2010/main" val="300392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FF0000"/>
                </a:solidFill>
                <a:latin typeface="Pretendard Bold"/>
                <a:ea typeface="Pretendard Bold"/>
                <a:cs typeface="Pretendard Bold"/>
              </a:rPr>
              <a:t>R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2C4570-C0DA-DE2C-98A7-D62785E42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51" y="1618488"/>
            <a:ext cx="11099697" cy="10479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C6F9B58-F6B9-85DD-C9B4-BCC91A51D2B7}"/>
              </a:ext>
            </a:extLst>
          </p:cNvPr>
          <p:cNvSpPr/>
          <p:nvPr/>
        </p:nvSpPr>
        <p:spPr>
          <a:xfrm>
            <a:off x="8763000" y="4114800"/>
            <a:ext cx="1600200" cy="1676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46ECA1-8252-8A79-D1C3-436AF4343B73}"/>
              </a:ext>
            </a:extLst>
          </p:cNvPr>
          <p:cNvSpPr/>
          <p:nvPr/>
        </p:nvSpPr>
        <p:spPr>
          <a:xfrm>
            <a:off x="5943600" y="3962400"/>
            <a:ext cx="1295400" cy="228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DF79F0-C72D-5D8B-AF7C-2450E09B2641}"/>
              </a:ext>
            </a:extLst>
          </p:cNvPr>
          <p:cNvSpPr/>
          <p:nvPr/>
        </p:nvSpPr>
        <p:spPr>
          <a:xfrm>
            <a:off x="11729330" y="4406900"/>
            <a:ext cx="843669" cy="11557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72FC5B-A64A-7130-9972-61721E463463}"/>
              </a:ext>
            </a:extLst>
          </p:cNvPr>
          <p:cNvSpPr/>
          <p:nvPr/>
        </p:nvSpPr>
        <p:spPr>
          <a:xfrm>
            <a:off x="12344400" y="6705599"/>
            <a:ext cx="843669" cy="14478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3B88F2A-4086-59B6-BC73-65DA8D07E127}"/>
              </a:ext>
            </a:extLst>
          </p:cNvPr>
          <p:cNvCxnSpPr/>
          <p:nvPr/>
        </p:nvCxnSpPr>
        <p:spPr>
          <a:xfrm>
            <a:off x="12344400" y="6477000"/>
            <a:ext cx="0" cy="6858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7368F879-D202-407C-F7AC-1460BF6D23AE}"/>
              </a:ext>
            </a:extLst>
          </p:cNvPr>
          <p:cNvCxnSpPr>
            <a:endCxn id="4" idx="2"/>
          </p:cNvCxnSpPr>
          <p:nvPr/>
        </p:nvCxnSpPr>
        <p:spPr>
          <a:xfrm rot="10800000">
            <a:off x="9563100" y="5791200"/>
            <a:ext cx="2781300" cy="685800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B067C41-A4B0-0863-FCC6-2C39E4771936}"/>
              </a:ext>
            </a:extLst>
          </p:cNvPr>
          <p:cNvCxnSpPr>
            <a:cxnSpLocks/>
          </p:cNvCxnSpPr>
          <p:nvPr/>
        </p:nvCxnSpPr>
        <p:spPr>
          <a:xfrm>
            <a:off x="10363200" y="4528312"/>
            <a:ext cx="1366130" cy="4368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98CD2B2-CC10-B75E-B044-C30D2F524CF1}"/>
              </a:ext>
            </a:extLst>
          </p:cNvPr>
          <p:cNvCxnSpPr>
            <a:cxnSpLocks/>
          </p:cNvCxnSpPr>
          <p:nvPr/>
        </p:nvCxnSpPr>
        <p:spPr>
          <a:xfrm>
            <a:off x="10363200" y="5170424"/>
            <a:ext cx="457200" cy="4368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E1AA85E-E129-9ABF-C06E-04355D8AB3AE}"/>
              </a:ext>
            </a:extLst>
          </p:cNvPr>
          <p:cNvCxnSpPr/>
          <p:nvPr/>
        </p:nvCxnSpPr>
        <p:spPr>
          <a:xfrm>
            <a:off x="11391899" y="5410200"/>
            <a:ext cx="33743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616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BFDDB-AC6C-3FB0-45DA-EA51A7BA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9150630-1249-FFA3-AB06-1737296CB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63F6253-7772-9BA2-0CE9-715C1A59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5456BD9-844E-AFA8-D5AD-2DE7BB94F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6854604B-F5AD-F22B-546A-159563595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69DF2C68-38A0-79B8-03D6-C6054B437783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FF0000"/>
                </a:solidFill>
                <a:latin typeface="Pretendard Bold"/>
                <a:ea typeface="Pretendard Bold"/>
                <a:cs typeface="Pretendard Bold"/>
              </a:rPr>
              <a:t>R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96EA765-2D87-F1B1-5AB6-FCC19CA53480}"/>
              </a:ext>
            </a:extLst>
          </p:cNvPr>
          <p:cNvGrpSpPr/>
          <p:nvPr/>
        </p:nvGrpSpPr>
        <p:grpSpPr>
          <a:xfrm>
            <a:off x="533400" y="2514600"/>
            <a:ext cx="10210800" cy="9347200"/>
            <a:chOff x="5842051" y="1618488"/>
            <a:chExt cx="11099697" cy="1047902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0AFD79A-2E82-FB80-B020-CA8128A5B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2051" y="1618488"/>
              <a:ext cx="11099697" cy="10479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EA8E1D4-28D9-B8CE-5D78-DC2E3DE52EAD}"/>
                </a:ext>
              </a:extLst>
            </p:cNvPr>
            <p:cNvSpPr/>
            <p:nvPr/>
          </p:nvSpPr>
          <p:spPr>
            <a:xfrm>
              <a:off x="8763000" y="4114800"/>
              <a:ext cx="1600200" cy="1676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6DB333C-C5B5-DC76-1994-35AB357AD85D}"/>
                </a:ext>
              </a:extLst>
            </p:cNvPr>
            <p:cNvSpPr/>
            <p:nvPr/>
          </p:nvSpPr>
          <p:spPr>
            <a:xfrm>
              <a:off x="5943600" y="3962400"/>
              <a:ext cx="1295400" cy="2286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FFDA16-B043-E779-5041-9E88AF5A67CF}"/>
                </a:ext>
              </a:extLst>
            </p:cNvPr>
            <p:cNvSpPr/>
            <p:nvPr/>
          </p:nvSpPr>
          <p:spPr>
            <a:xfrm>
              <a:off x="11729330" y="4406900"/>
              <a:ext cx="843669" cy="11557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26AC7C4-F7CA-0DA2-ED5F-9BB7B0519FE1}"/>
                </a:ext>
              </a:extLst>
            </p:cNvPr>
            <p:cNvSpPr/>
            <p:nvPr/>
          </p:nvSpPr>
          <p:spPr>
            <a:xfrm>
              <a:off x="12344400" y="6705599"/>
              <a:ext cx="843669" cy="1447801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612A1E41-6964-B941-5873-4D0F1045F7B4}"/>
                </a:ext>
              </a:extLst>
            </p:cNvPr>
            <p:cNvCxnSpPr>
              <a:cxnSpLocks/>
            </p:cNvCxnSpPr>
            <p:nvPr/>
          </p:nvCxnSpPr>
          <p:spPr>
            <a:xfrm>
              <a:off x="12344400" y="6477000"/>
              <a:ext cx="0" cy="6858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DC29EACB-7A48-D509-CA1D-37A12C7EC3A7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 rot="10800000">
              <a:off x="9563100" y="5791200"/>
              <a:ext cx="2781300" cy="685800"/>
            </a:xfrm>
            <a:prstGeom prst="bentConnector2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BC1AB65B-EF58-147D-9F43-2181563A0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363200" y="4528312"/>
              <a:ext cx="1366130" cy="4368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6EDD3B9D-FF0B-75CA-1170-F8C307C5BFAD}"/>
                </a:ext>
              </a:extLst>
            </p:cNvPr>
            <p:cNvCxnSpPr>
              <a:cxnSpLocks/>
            </p:cNvCxnSpPr>
            <p:nvPr/>
          </p:nvCxnSpPr>
          <p:spPr>
            <a:xfrm>
              <a:off x="10363200" y="5170424"/>
              <a:ext cx="457200" cy="4368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B872ED1D-0D95-0EFA-499C-8C9D77078C21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899" y="5410200"/>
              <a:ext cx="33743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EFE29E7C-587F-1B32-5F31-12C7EE8B44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6643" y="7188200"/>
            <a:ext cx="9346441" cy="429431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AFAB982-D371-CA3F-B0D0-C622576609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0348" y="3265546"/>
            <a:ext cx="12480833" cy="2450224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04F33D2-5987-7C28-5B8C-47FBAD061538}"/>
              </a:ext>
            </a:extLst>
          </p:cNvPr>
          <p:cNvSpPr/>
          <p:nvPr/>
        </p:nvSpPr>
        <p:spPr>
          <a:xfrm>
            <a:off x="12115800" y="4419600"/>
            <a:ext cx="310993" cy="1066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840081-C402-C163-E61E-EF96E6848047}"/>
              </a:ext>
            </a:extLst>
          </p:cNvPr>
          <p:cNvSpPr txBox="1"/>
          <p:nvPr/>
        </p:nvSpPr>
        <p:spPr>
          <a:xfrm>
            <a:off x="11480224" y="5776707"/>
            <a:ext cx="1996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SUB,SRA </a:t>
            </a:r>
            <a:endParaRPr lang="ko-KR" altLang="en-US" sz="320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F5E16D0-3E33-6F0C-AC99-95D4ABA06967}"/>
              </a:ext>
            </a:extLst>
          </p:cNvPr>
          <p:cNvSpPr/>
          <p:nvPr/>
        </p:nvSpPr>
        <p:spPr>
          <a:xfrm>
            <a:off x="17660764" y="3429000"/>
            <a:ext cx="1617836" cy="2057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65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042C-BB63-9C22-152A-2CC235CE1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42A8E6E-7940-89C8-154C-4F25A9393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E3CD185-94BA-2516-6278-F80D38C45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BCDFC188-909A-BE88-2DAC-B238E808C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B4539CA-18CF-5A5C-0603-23C50EA78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F826EC6C-01CE-2C11-231C-9A06572793B6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FF0000"/>
                </a:solidFill>
                <a:latin typeface="Pretendard Bold"/>
                <a:ea typeface="Pretendard Bold"/>
                <a:cs typeface="Pretendard Bold"/>
              </a:rPr>
              <a:t>R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47472EA-2FB5-0211-BBE6-1D2C72C70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699893"/>
              </p:ext>
            </p:extLst>
          </p:nvPr>
        </p:nvGraphicFramePr>
        <p:xfrm>
          <a:off x="11413236" y="2501901"/>
          <a:ext cx="11579352" cy="8712197"/>
        </p:xfrm>
        <a:graphic>
          <a:graphicData uri="http://schemas.openxmlformats.org/drawingml/2006/table">
            <a:tbl>
              <a:tblPr/>
              <a:tblGrid>
                <a:gridCol w="923139">
                  <a:extLst>
                    <a:ext uri="{9D8B030D-6E8A-4147-A177-3AD203B41FA5}">
                      <a16:colId xmlns:a16="http://schemas.microsoft.com/office/drawing/2014/main" val="3921134162"/>
                    </a:ext>
                  </a:extLst>
                </a:gridCol>
                <a:gridCol w="3955435">
                  <a:extLst>
                    <a:ext uri="{9D8B030D-6E8A-4147-A177-3AD203B41FA5}">
                      <a16:colId xmlns:a16="http://schemas.microsoft.com/office/drawing/2014/main" val="3762729265"/>
                    </a:ext>
                  </a:extLst>
                </a:gridCol>
                <a:gridCol w="1027178">
                  <a:extLst>
                    <a:ext uri="{9D8B030D-6E8A-4147-A177-3AD203B41FA5}">
                      <a16:colId xmlns:a16="http://schemas.microsoft.com/office/drawing/2014/main" val="4194819592"/>
                    </a:ext>
                  </a:extLst>
                </a:gridCol>
                <a:gridCol w="1027178">
                  <a:extLst>
                    <a:ext uri="{9D8B030D-6E8A-4147-A177-3AD203B41FA5}">
                      <a16:colId xmlns:a16="http://schemas.microsoft.com/office/drawing/2014/main" val="4192584545"/>
                    </a:ext>
                  </a:extLst>
                </a:gridCol>
                <a:gridCol w="902163">
                  <a:extLst>
                    <a:ext uri="{9D8B030D-6E8A-4147-A177-3AD203B41FA5}">
                      <a16:colId xmlns:a16="http://schemas.microsoft.com/office/drawing/2014/main" val="1897239262"/>
                    </a:ext>
                  </a:extLst>
                </a:gridCol>
                <a:gridCol w="3744259">
                  <a:extLst>
                    <a:ext uri="{9D8B030D-6E8A-4147-A177-3AD203B41FA5}">
                      <a16:colId xmlns:a16="http://schemas.microsoft.com/office/drawing/2014/main" val="166984180"/>
                    </a:ext>
                  </a:extLst>
                </a:gridCol>
              </a:tblGrid>
              <a:tr h="579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Instruction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rs1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rs2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rd</a:t>
                      </a:r>
                      <a:endParaRPr lang="en-US" sz="2400" dirty="0"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Result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264869"/>
                  </a:ext>
                </a:extLst>
              </a:tr>
              <a:tr h="6415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add x5,x1,x2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5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x5=3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085955"/>
                  </a:ext>
                </a:extLst>
              </a:tr>
              <a:tr h="6415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sub x6,x2,x1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x6=1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912815"/>
                  </a:ext>
                </a:extLst>
              </a:tr>
              <a:tr h="6415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and x7,x3,x1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7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x7=1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069196"/>
                  </a:ext>
                </a:extLst>
              </a:tr>
              <a:tr h="6415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or x8,x3,x1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x8=3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374268"/>
                  </a:ext>
                </a:extLst>
              </a:tr>
              <a:tr h="6415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16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xor x9,x3,x1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9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x9=2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69572"/>
                  </a:ext>
                </a:extLst>
              </a:tr>
              <a:tr h="916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20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sll x10,x1,x2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10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x10=4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543758"/>
                  </a:ext>
                </a:extLst>
              </a:tr>
              <a:tr h="916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24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srl x11,x8,x1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x11=4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053337"/>
                  </a:ext>
                </a:extLst>
              </a:tr>
              <a:tr h="1087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28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sra x12,x13,x1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13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x12=-2147483642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05170"/>
                  </a:ext>
                </a:extLst>
              </a:tr>
              <a:tr h="916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slt x13,x1,x2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13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x13=1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13438"/>
                  </a:ext>
                </a:extLst>
              </a:tr>
              <a:tr h="1087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36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sltu x14,x1,x2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14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x14=1</a:t>
                      </a:r>
                    </a:p>
                  </a:txBody>
                  <a:tcPr marL="50854" marR="50854" marT="25427" marB="254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68216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1A15013C-1B94-B3CB-098B-D85F60623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48" y="4605277"/>
            <a:ext cx="9175046" cy="437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67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23EC3-AC29-5642-5AF0-15F11254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758638B-437F-7526-943B-C7A62D0E3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C34943B-2BF3-E168-2FB3-360D07799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CF9EB1C-C740-D25D-1A84-AF8A23A5C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5245AC74-336D-4079-D3D4-ADDE9AB06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94CE95A9-B498-404F-9066-9136AEFDD371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72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72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72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7200" dirty="0">
                <a:solidFill>
                  <a:srgbClr val="FF0000"/>
                </a:solidFill>
                <a:latin typeface="Pretendard Bold"/>
                <a:ea typeface="Pretendard Bold"/>
                <a:cs typeface="Pretendard Bold"/>
              </a:rPr>
              <a:t>R</a:t>
            </a:r>
            <a:r>
              <a:rPr lang="en-US" altLang="ko-KR" sz="72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72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7200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8709740-83C8-F4CA-3DFC-4C09BEFC59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048" y="1574800"/>
            <a:ext cx="22631400" cy="83958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762EA3-D1D8-861B-8D73-E21EB15A706C}"/>
              </a:ext>
            </a:extLst>
          </p:cNvPr>
          <p:cNvSpPr txBox="1"/>
          <p:nvPr/>
        </p:nvSpPr>
        <p:spPr>
          <a:xfrm>
            <a:off x="1016000" y="10268671"/>
            <a:ext cx="738214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x5(ADD) = 1 + 2 = 3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X6(SUB) = 3 - 3 = 0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X7(AND) = 7(111) &amp; 3(011) = 3(011)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X8(OR)    = 8(1000) | 3(011) = 11(1011)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D9DCA9-5DD2-38B6-8709-3DAA2A911B8E}"/>
              </a:ext>
            </a:extLst>
          </p:cNvPr>
          <p:cNvSpPr txBox="1"/>
          <p:nvPr/>
        </p:nvSpPr>
        <p:spPr>
          <a:xfrm>
            <a:off x="8398149" y="10268670"/>
            <a:ext cx="752962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x9(XOR)  = 9(1001) ^ 3(011) = 10(1010)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X10(SLL) = 11 &lt;&lt; 31 = -214783648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X11(SRL)  = 10(1010) &gt;&gt; 30 = 0</a:t>
            </a:r>
          </a:p>
          <a:p>
            <a:pPr algn="l"/>
            <a:r>
              <a:rPr lang="en-US" altLang="ko-KR" sz="320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X12(SRA) = x10 &gt;&gt; 12 = -2</a:t>
            </a:r>
            <a:endParaRPr lang="ko-KR" altLang="en-US" sz="320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6490F9-4330-C0FD-493A-C9D8239AA58F}"/>
              </a:ext>
            </a:extLst>
          </p:cNvPr>
          <p:cNvSpPr txBox="1"/>
          <p:nvPr/>
        </p:nvSpPr>
        <p:spPr>
          <a:xfrm>
            <a:off x="16273117" y="10245385"/>
            <a:ext cx="44310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X13(SLT)    = 3 &lt; 4 = 1 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X14(SLTU) = 4 &lt; 3 = 0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62126F-C76A-3503-FDB3-54F1D141DC90}"/>
              </a:ext>
            </a:extLst>
          </p:cNvPr>
          <p:cNvSpPr txBox="1"/>
          <p:nvPr/>
        </p:nvSpPr>
        <p:spPr>
          <a:xfrm>
            <a:off x="19202400" y="12200743"/>
            <a:ext cx="2354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※Signed</a:t>
            </a:r>
          </a:p>
        </p:txBody>
      </p:sp>
    </p:spTree>
    <p:extLst>
      <p:ext uri="{BB962C8B-B14F-4D97-AF65-F5344CB8AC3E}">
        <p14:creationId xmlns:p14="http://schemas.microsoft.com/office/powerpoint/2010/main" val="458141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BAE4-AF27-EAF9-C456-DD9E33DB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2C27CFF-31C6-C034-0011-4DF174B07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CF3CBC9-E489-0417-34D0-7E2D46CC8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4F70A29C-7871-7C9A-9478-E5F1B2718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07CB55B-87B4-76D4-ABAB-612473AB6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735EDFCA-1F1E-6DAB-552F-6BA949A14007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70C0"/>
                </a:solidFill>
                <a:latin typeface="Pretendard Bold"/>
                <a:ea typeface="Pretendard Bold"/>
                <a:cs typeface="Pretendard Bold"/>
              </a:rPr>
              <a:t>I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7511250-713D-D626-9F5F-71A5C82601E9}"/>
              </a:ext>
            </a:extLst>
          </p:cNvPr>
          <p:cNvGrpSpPr/>
          <p:nvPr/>
        </p:nvGrpSpPr>
        <p:grpSpPr>
          <a:xfrm>
            <a:off x="5842051" y="1618488"/>
            <a:ext cx="11099697" cy="10479024"/>
            <a:chOff x="5842051" y="1618488"/>
            <a:chExt cx="11099697" cy="1047902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5692F03-9148-A5BD-2E58-F669C8129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2051" y="1618488"/>
              <a:ext cx="11099697" cy="10479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32241BB-CE56-9C8C-F313-A2F1BA0D0B83}"/>
                </a:ext>
              </a:extLst>
            </p:cNvPr>
            <p:cNvSpPr/>
            <p:nvPr/>
          </p:nvSpPr>
          <p:spPr>
            <a:xfrm>
              <a:off x="8763000" y="4114800"/>
              <a:ext cx="1600200" cy="1676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AE12F34-D990-BA4F-3C60-43CECD2AC1CC}"/>
                </a:ext>
              </a:extLst>
            </p:cNvPr>
            <p:cNvSpPr/>
            <p:nvPr/>
          </p:nvSpPr>
          <p:spPr>
            <a:xfrm>
              <a:off x="5943600" y="3962400"/>
              <a:ext cx="1295400" cy="2286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704C909-AEE7-3663-43BC-71581BD15095}"/>
                </a:ext>
              </a:extLst>
            </p:cNvPr>
            <p:cNvSpPr/>
            <p:nvPr/>
          </p:nvSpPr>
          <p:spPr>
            <a:xfrm>
              <a:off x="11729330" y="4406900"/>
              <a:ext cx="843669" cy="11557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959E41D-13EF-4860-7E66-E2949090D379}"/>
                </a:ext>
              </a:extLst>
            </p:cNvPr>
            <p:cNvSpPr/>
            <p:nvPr/>
          </p:nvSpPr>
          <p:spPr>
            <a:xfrm>
              <a:off x="12344400" y="6705599"/>
              <a:ext cx="843669" cy="1447801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F50EFA9-0519-4585-EED5-00EE6AE48610}"/>
                </a:ext>
              </a:extLst>
            </p:cNvPr>
            <p:cNvCxnSpPr/>
            <p:nvPr/>
          </p:nvCxnSpPr>
          <p:spPr>
            <a:xfrm>
              <a:off x="12344400" y="6477000"/>
              <a:ext cx="0" cy="6858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3448C6A0-DB18-ECBB-BA14-A2C04377AB4A}"/>
                </a:ext>
              </a:extLst>
            </p:cNvPr>
            <p:cNvCxnSpPr>
              <a:endCxn id="5" idx="2"/>
            </p:cNvCxnSpPr>
            <p:nvPr/>
          </p:nvCxnSpPr>
          <p:spPr>
            <a:xfrm rot="10800000">
              <a:off x="9563100" y="5791200"/>
              <a:ext cx="2781300" cy="685800"/>
            </a:xfrm>
            <a:prstGeom prst="bentConnector2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E182C08-E290-96F7-2BBF-A8FD2F3233EB}"/>
                </a:ext>
              </a:extLst>
            </p:cNvPr>
            <p:cNvCxnSpPr>
              <a:cxnSpLocks/>
            </p:cNvCxnSpPr>
            <p:nvPr/>
          </p:nvCxnSpPr>
          <p:spPr>
            <a:xfrm>
              <a:off x="10363200" y="4528312"/>
              <a:ext cx="1366130" cy="4368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ADDBB42C-98A5-6203-C8DB-6ED6C39E3DC1}"/>
                </a:ext>
              </a:extLst>
            </p:cNvPr>
            <p:cNvCxnSpPr>
              <a:cxnSpLocks/>
            </p:cNvCxnSpPr>
            <p:nvPr/>
          </p:nvCxnSpPr>
          <p:spPr>
            <a:xfrm>
              <a:off x="10363200" y="5170424"/>
              <a:ext cx="457200" cy="4368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C501936F-5587-5329-5578-8D075D4CC549}"/>
                </a:ext>
              </a:extLst>
            </p:cNvPr>
            <p:cNvCxnSpPr/>
            <p:nvPr/>
          </p:nvCxnSpPr>
          <p:spPr>
            <a:xfrm>
              <a:off x="11391899" y="5410200"/>
              <a:ext cx="33743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C322587-42B2-0EE9-41ED-9223DCB844C5}"/>
                </a:ext>
              </a:extLst>
            </p:cNvPr>
            <p:cNvSpPr/>
            <p:nvPr/>
          </p:nvSpPr>
          <p:spPr>
            <a:xfrm>
              <a:off x="8305800" y="6705599"/>
              <a:ext cx="1257300" cy="685801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D853C0F1-77D2-8D97-DA68-39729898024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0031192" y="6202143"/>
              <a:ext cx="1371599" cy="321115"/>
            </a:xfrm>
            <a:prstGeom prst="bentConnector3">
              <a:avLst>
                <a:gd name="adj1" fmla="val 103333"/>
              </a:avLst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5CFCF4B1-146C-1662-CC91-C75F22DB0CAF}"/>
                </a:ext>
              </a:extLst>
            </p:cNvPr>
            <p:cNvCxnSpPr>
              <a:stCxn id="18" idx="3"/>
            </p:cNvCxnSpPr>
            <p:nvPr/>
          </p:nvCxnSpPr>
          <p:spPr>
            <a:xfrm flipV="1">
              <a:off x="9563100" y="7048499"/>
              <a:ext cx="1028700" cy="1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E870E91C-7D47-CC19-C0B5-084334EACD87}"/>
                </a:ext>
              </a:extLst>
            </p:cNvPr>
            <p:cNvCxnSpPr>
              <a:cxnSpLocks/>
            </p:cNvCxnSpPr>
            <p:nvPr/>
          </p:nvCxnSpPr>
          <p:spPr>
            <a:xfrm>
              <a:off x="12572999" y="4953000"/>
              <a:ext cx="800101" cy="31750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연결선: 꺾임 43">
              <a:extLst>
                <a:ext uri="{FF2B5EF4-FFF2-40B4-BE49-F238E27FC236}">
                  <a16:creationId xmlns:a16="http://schemas.microsoft.com/office/drawing/2014/main" id="{11A7E6A2-01AB-E280-D687-21CEC393250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2223080" y="5822279"/>
              <a:ext cx="1987549" cy="312491"/>
            </a:xfrm>
            <a:prstGeom prst="bentConnector3">
              <a:avLst>
                <a:gd name="adj1" fmla="val 97847"/>
              </a:avLst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5578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A9D5-717C-99C2-B88C-ECCFCE244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2BCBB0B-6659-861C-CAC9-5CCE9D6F7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6E62BD3-C4F7-1C45-9CC1-6484DFF89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13E6A0E4-982C-5B07-D855-38B260C6A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CC84BEB-1A48-10D7-4DC7-11572AED1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565EDF7E-1224-8EE1-7C15-1D62CD457EF1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70C0"/>
                </a:solidFill>
                <a:latin typeface="Pretendard Bold"/>
                <a:ea typeface="Pretendard Bold"/>
                <a:cs typeface="Pretendard Bold"/>
              </a:rPr>
              <a:t>I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B4AC77D-B4FE-8320-F2B7-3EF6FE23C55C}"/>
              </a:ext>
            </a:extLst>
          </p:cNvPr>
          <p:cNvGrpSpPr/>
          <p:nvPr/>
        </p:nvGrpSpPr>
        <p:grpSpPr>
          <a:xfrm>
            <a:off x="602133" y="1767831"/>
            <a:ext cx="11099697" cy="10479024"/>
            <a:chOff x="5842051" y="1618488"/>
            <a:chExt cx="11099697" cy="10479024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DF91BA78-5010-F600-D4BF-27180AE00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2051" y="1618488"/>
              <a:ext cx="11099697" cy="10479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B9D55DC-1CBC-836F-FC7A-BB5D3F048B67}"/>
                </a:ext>
              </a:extLst>
            </p:cNvPr>
            <p:cNvSpPr/>
            <p:nvPr/>
          </p:nvSpPr>
          <p:spPr>
            <a:xfrm>
              <a:off x="8763000" y="4114800"/>
              <a:ext cx="1600200" cy="1676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0C51FFB-2B17-1135-B1E3-FDC95DB9F2D3}"/>
                </a:ext>
              </a:extLst>
            </p:cNvPr>
            <p:cNvSpPr/>
            <p:nvPr/>
          </p:nvSpPr>
          <p:spPr>
            <a:xfrm>
              <a:off x="5943600" y="3962400"/>
              <a:ext cx="1295400" cy="2286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5E25EA7-EE0F-2144-410E-E215A7608D4A}"/>
                </a:ext>
              </a:extLst>
            </p:cNvPr>
            <p:cNvSpPr/>
            <p:nvPr/>
          </p:nvSpPr>
          <p:spPr>
            <a:xfrm>
              <a:off x="11729330" y="4406900"/>
              <a:ext cx="843669" cy="11557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E05647B-65DC-82D6-B699-19F716A219F3}"/>
                </a:ext>
              </a:extLst>
            </p:cNvPr>
            <p:cNvSpPr/>
            <p:nvPr/>
          </p:nvSpPr>
          <p:spPr>
            <a:xfrm>
              <a:off x="12344400" y="6705599"/>
              <a:ext cx="843669" cy="1447801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7C4074F-36B7-09E1-3282-39F69381FF6E}"/>
                </a:ext>
              </a:extLst>
            </p:cNvPr>
            <p:cNvCxnSpPr/>
            <p:nvPr/>
          </p:nvCxnSpPr>
          <p:spPr>
            <a:xfrm>
              <a:off x="12344400" y="6477000"/>
              <a:ext cx="0" cy="6858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2ABDDE15-E607-BB3E-B190-C13F0C6C1DA2}"/>
                </a:ext>
              </a:extLst>
            </p:cNvPr>
            <p:cNvCxnSpPr>
              <a:endCxn id="20" idx="2"/>
            </p:cNvCxnSpPr>
            <p:nvPr/>
          </p:nvCxnSpPr>
          <p:spPr>
            <a:xfrm rot="10800000">
              <a:off x="9563100" y="5791200"/>
              <a:ext cx="2781300" cy="685800"/>
            </a:xfrm>
            <a:prstGeom prst="bentConnector2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7F0C761B-E04B-888A-F0CA-45DB837D3D70}"/>
                </a:ext>
              </a:extLst>
            </p:cNvPr>
            <p:cNvCxnSpPr>
              <a:cxnSpLocks/>
            </p:cNvCxnSpPr>
            <p:nvPr/>
          </p:nvCxnSpPr>
          <p:spPr>
            <a:xfrm>
              <a:off x="10363200" y="4528312"/>
              <a:ext cx="1366130" cy="4368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30458EA-E5F4-8BAB-8477-0AEB40F8CA7C}"/>
                </a:ext>
              </a:extLst>
            </p:cNvPr>
            <p:cNvSpPr/>
            <p:nvPr/>
          </p:nvSpPr>
          <p:spPr>
            <a:xfrm>
              <a:off x="8305800" y="6705599"/>
              <a:ext cx="1257300" cy="685801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연결선: 꺾임 29">
              <a:extLst>
                <a:ext uri="{FF2B5EF4-FFF2-40B4-BE49-F238E27FC236}">
                  <a16:creationId xmlns:a16="http://schemas.microsoft.com/office/drawing/2014/main" id="{9BA6C9DF-21D5-D5EE-F4CE-10C55078495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0031192" y="6202143"/>
              <a:ext cx="1371599" cy="321115"/>
            </a:xfrm>
            <a:prstGeom prst="bentConnector3">
              <a:avLst>
                <a:gd name="adj1" fmla="val 103333"/>
              </a:avLst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312264C-7706-0FEB-CE22-9616529315E0}"/>
                </a:ext>
              </a:extLst>
            </p:cNvPr>
            <p:cNvCxnSpPr>
              <a:stCxn id="29" idx="3"/>
            </p:cNvCxnSpPr>
            <p:nvPr/>
          </p:nvCxnSpPr>
          <p:spPr>
            <a:xfrm flipV="1">
              <a:off x="9563100" y="7048499"/>
              <a:ext cx="1028700" cy="1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3F173E4B-8B60-A6AF-D0D3-9172A170D664}"/>
                </a:ext>
              </a:extLst>
            </p:cNvPr>
            <p:cNvCxnSpPr>
              <a:cxnSpLocks/>
            </p:cNvCxnSpPr>
            <p:nvPr/>
          </p:nvCxnSpPr>
          <p:spPr>
            <a:xfrm>
              <a:off x="12572999" y="4953000"/>
              <a:ext cx="800101" cy="31750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연결선: 꺾임 32">
              <a:extLst>
                <a:ext uri="{FF2B5EF4-FFF2-40B4-BE49-F238E27FC236}">
                  <a16:creationId xmlns:a16="http://schemas.microsoft.com/office/drawing/2014/main" id="{526A0366-12CD-BB9E-258F-0DB0BEFE4B7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2223080" y="5822279"/>
              <a:ext cx="1987549" cy="312491"/>
            </a:xfrm>
            <a:prstGeom prst="bentConnector3">
              <a:avLst>
                <a:gd name="adj1" fmla="val 97847"/>
              </a:avLst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5">
            <a:extLst>
              <a:ext uri="{FF2B5EF4-FFF2-40B4-BE49-F238E27FC236}">
                <a16:creationId xmlns:a16="http://schemas.microsoft.com/office/drawing/2014/main" id="{13A4F8F8-6BA5-8854-6EC9-37BB680AB8E7}"/>
              </a:ext>
            </a:extLst>
          </p:cNvPr>
          <p:cNvSpPr txBox="1"/>
          <p:nvPr/>
        </p:nvSpPr>
        <p:spPr>
          <a:xfrm>
            <a:off x="12682171" y="2297825"/>
            <a:ext cx="4257024" cy="439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ALU Function Control [</a:t>
            </a:r>
            <a:r>
              <a:rPr lang="en-US" sz="2499" b="1" dirty="0">
                <a:solidFill>
                  <a:srgbClr val="090807"/>
                </a:solidFill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I</a:t>
            </a:r>
            <a:r>
              <a:rPr kumimoji="0" lang="en-US" sz="2499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mm</a:t>
            </a:r>
            <a:r>
              <a:rPr lang="en-US" sz="2499" b="1" dirty="0">
                <a:solidFill>
                  <a:srgbClr val="090807"/>
                </a:solidFill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]</a:t>
            </a:r>
            <a:endParaRPr kumimoji="0" lang="en-US" sz="2499" b="1" i="0" u="none" strike="noStrike" kern="1200" cap="none" spc="0" normalizeH="0" baseline="0" noProof="0" dirty="0">
              <a:ln>
                <a:noFill/>
              </a:ln>
              <a:solidFill>
                <a:srgbClr val="090807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Source Han Sans KR Bold"/>
              <a:sym typeface="Source Han Sans KR Bold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FCF3CA56-81D9-C013-99DA-E4DA2949DF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2171" y="2691293"/>
            <a:ext cx="10165210" cy="205248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BBFF0559-B842-1118-DECE-87C89D8CC8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82171" y="5079492"/>
            <a:ext cx="10165210" cy="2031401"/>
          </a:xfrm>
          <a:prstGeom prst="rect">
            <a:avLst/>
          </a:prstGeom>
        </p:spPr>
      </p:pic>
      <p:sp>
        <p:nvSpPr>
          <p:cNvPr id="38" name="TextBox 5">
            <a:extLst>
              <a:ext uri="{FF2B5EF4-FFF2-40B4-BE49-F238E27FC236}">
                <a16:creationId xmlns:a16="http://schemas.microsoft.com/office/drawing/2014/main" id="{B9CC9328-2E2C-75F4-EC9B-F62D54480C6C}"/>
              </a:ext>
            </a:extLst>
          </p:cNvPr>
          <p:cNvSpPr txBox="1"/>
          <p:nvPr/>
        </p:nvSpPr>
        <p:spPr>
          <a:xfrm>
            <a:off x="12682171" y="4743778"/>
            <a:ext cx="4660819" cy="439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99" b="1" dirty="0">
                <a:solidFill>
                  <a:srgbClr val="090807"/>
                </a:solidFill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Shift Register (SLLI, SRLI, SRAI)</a:t>
            </a:r>
            <a:endParaRPr kumimoji="0" lang="en-US" sz="2499" b="1" i="0" u="none" strike="noStrike" kern="1200" cap="none" spc="0" normalizeH="0" baseline="0" noProof="0" dirty="0">
              <a:ln>
                <a:noFill/>
              </a:ln>
              <a:solidFill>
                <a:srgbClr val="090807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Source Han Sans KR Bold"/>
              <a:sym typeface="Source Han Sans KR Bold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03354BA-1344-61A4-F69E-C73B037714AB}"/>
              </a:ext>
            </a:extLst>
          </p:cNvPr>
          <p:cNvSpPr/>
          <p:nvPr/>
        </p:nvSpPr>
        <p:spPr>
          <a:xfrm>
            <a:off x="17769954" y="6066072"/>
            <a:ext cx="1366421" cy="927009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D2C38B4C-635F-B0AF-A845-742189767E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91555" y="7593190"/>
            <a:ext cx="9346441" cy="429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010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E6C0-73E2-D54D-3399-7DA02DDB3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3D5DA3C-5CB2-2131-2DEB-BE425883F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EFC64B6-2F7C-4726-B201-C667C2846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4E71166-9A75-355F-30A8-2C8B84231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FEEB939-D236-F79F-FE3F-2E905EE3C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26352438-2639-9199-C20E-EB41C18D71B0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70C0"/>
                </a:solidFill>
                <a:latin typeface="Pretendard Bold"/>
                <a:ea typeface="Pretendard Bold"/>
                <a:cs typeface="Pretendard Bold"/>
              </a:rPr>
              <a:t>I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E6A088-8073-5F4C-A956-EBD833CE3C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856" y="4038600"/>
            <a:ext cx="9830997" cy="56388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959E31-CBE5-094D-A856-7A1156E760A5}"/>
              </a:ext>
            </a:extLst>
          </p:cNvPr>
          <p:cNvSpPr/>
          <p:nvPr/>
        </p:nvSpPr>
        <p:spPr>
          <a:xfrm>
            <a:off x="9906000" y="4191000"/>
            <a:ext cx="931853" cy="546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F70E13-7583-DFF2-B9FB-613BAB14BEC5}"/>
              </a:ext>
            </a:extLst>
          </p:cNvPr>
          <p:cNvSpPr txBox="1"/>
          <p:nvPr/>
        </p:nvSpPr>
        <p:spPr>
          <a:xfrm>
            <a:off x="9677400" y="9982200"/>
            <a:ext cx="1359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IMM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값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7F97619-1F12-EF78-576B-0457BE9A1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419682"/>
              </p:ext>
            </p:extLst>
          </p:nvPr>
        </p:nvGraphicFramePr>
        <p:xfrm>
          <a:off x="12039600" y="2805175"/>
          <a:ext cx="11277601" cy="8218756"/>
        </p:xfrm>
        <a:graphic>
          <a:graphicData uri="http://schemas.openxmlformats.org/drawingml/2006/table">
            <a:tbl>
              <a:tblPr/>
              <a:tblGrid>
                <a:gridCol w="786671">
                  <a:extLst>
                    <a:ext uri="{9D8B030D-6E8A-4147-A177-3AD203B41FA5}">
                      <a16:colId xmlns:a16="http://schemas.microsoft.com/office/drawing/2014/main" val="3162592263"/>
                    </a:ext>
                  </a:extLst>
                </a:gridCol>
                <a:gridCol w="3072252">
                  <a:extLst>
                    <a:ext uri="{9D8B030D-6E8A-4147-A177-3AD203B41FA5}">
                      <a16:colId xmlns:a16="http://schemas.microsoft.com/office/drawing/2014/main" val="776304586"/>
                    </a:ext>
                  </a:extLst>
                </a:gridCol>
                <a:gridCol w="3711337">
                  <a:extLst>
                    <a:ext uri="{9D8B030D-6E8A-4147-A177-3AD203B41FA5}">
                      <a16:colId xmlns:a16="http://schemas.microsoft.com/office/drawing/2014/main" val="400813948"/>
                    </a:ext>
                  </a:extLst>
                </a:gridCol>
                <a:gridCol w="3707341">
                  <a:extLst>
                    <a:ext uri="{9D8B030D-6E8A-4147-A177-3AD203B41FA5}">
                      <a16:colId xmlns:a16="http://schemas.microsoft.com/office/drawing/2014/main" val="2382426318"/>
                    </a:ext>
                  </a:extLst>
                </a:gridCol>
              </a:tblGrid>
              <a:tr h="869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Instr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992877"/>
                  </a:ext>
                </a:extLst>
              </a:tr>
              <a:tr h="869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addi x5,x1,-1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+ (-1)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x5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326952"/>
                  </a:ext>
                </a:extLst>
              </a:tr>
              <a:tr h="869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andi</a:t>
                      </a: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x6,x2,15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 &amp;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x6 =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605078"/>
                  </a:ext>
                </a:extLst>
              </a:tr>
              <a:tr h="869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ori</a:t>
                      </a: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x7,x2,15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 |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x7 =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150497"/>
                  </a:ext>
                </a:extLst>
              </a:tr>
              <a:tr h="869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xori x8,x8,255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 ^ 255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x8 = 247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643042"/>
                  </a:ext>
                </a:extLst>
              </a:tr>
              <a:tr h="869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slti x9,x3,5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 &lt;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x9 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961734"/>
                  </a:ext>
                </a:extLst>
              </a:tr>
              <a:tr h="869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slli x10,x1,31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&lt;&lt; 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x10 = 0x80000000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826504"/>
                  </a:ext>
                </a:extLst>
              </a:tr>
              <a:tr h="869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srli x11,x10,30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0x80000000 &gt;&gt;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x11 = 0x00000002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616005"/>
                  </a:ext>
                </a:extLst>
              </a:tr>
              <a:tr h="869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srai x12,x10,30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arithmetic 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x12 = 0xFFFFFFFE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55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47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A233-4262-901C-F2AD-D31E4C11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E54E45B-DE9A-4423-E9F2-9817F78F2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241413D-3A7C-9FD1-D1BC-B8F81E839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1341938C-0864-B688-00C6-8E7F060C1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55323172-B16A-D256-87E7-80DF96CF3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C65C9ED8-45FD-04A1-DEB5-DED311F56E28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70C0"/>
                </a:solidFill>
                <a:latin typeface="Pretendard Bold"/>
                <a:ea typeface="Pretendard Bold"/>
                <a:cs typeface="Pretendard Bold"/>
              </a:rPr>
              <a:t>I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80B1DA-1FE3-4FF0-5065-59675743EE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65" y="1574800"/>
            <a:ext cx="22800269" cy="7772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7F960C-FE14-950A-E1B1-A22D35421615}"/>
              </a:ext>
            </a:extLst>
          </p:cNvPr>
          <p:cNvSpPr txBox="1"/>
          <p:nvPr/>
        </p:nvSpPr>
        <p:spPr>
          <a:xfrm>
            <a:off x="4800600" y="9857928"/>
            <a:ext cx="492314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X5(ADDI) = 1 + (-1) =0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X6(ANDI) = 2 &amp; 15 = 2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X7(ORI)    = 2 | 15 = 15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X8(XORI) = 8 ^ 255 =247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BFC14-8547-FD94-1F75-99C869A561DA}"/>
              </a:ext>
            </a:extLst>
          </p:cNvPr>
          <p:cNvSpPr txBox="1"/>
          <p:nvPr/>
        </p:nvSpPr>
        <p:spPr>
          <a:xfrm>
            <a:off x="13868400" y="9857928"/>
            <a:ext cx="697979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X9(SLTI) = 3 &lt; 5 = 1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X10(SLLI) = 1 &lt;&lt; 31 = -2147483648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X11(SRLI)    = X10 &gt;&gt; 30 = 2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X12(SRAI) = X10 &gt;&gt; 30 = -2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336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1F696-FF68-59B7-E9C6-53AF17AD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9EB30D0-083B-1803-2C0A-163C6379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250394F-205E-9B20-8DDE-06D4F5D06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006D314-9631-8384-8758-257D332CA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73CBC921-3184-2124-656D-311FEE623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E5452F88-A3F5-FA31-5EB5-A51C9992625A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B050"/>
                </a:solidFill>
                <a:latin typeface="Pretendard Bold"/>
                <a:ea typeface="Pretendard Bold"/>
                <a:cs typeface="Pretendard Bold"/>
              </a:rPr>
              <a:t>S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827822-D313-59AA-5574-E34A41517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51" y="1618488"/>
            <a:ext cx="11099697" cy="10479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FD6DD6A-C7A5-758D-17EA-5DD474F99744}"/>
              </a:ext>
            </a:extLst>
          </p:cNvPr>
          <p:cNvSpPr/>
          <p:nvPr/>
        </p:nvSpPr>
        <p:spPr>
          <a:xfrm>
            <a:off x="8763000" y="4114800"/>
            <a:ext cx="1600200" cy="1676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D46C72-D087-7F8F-15A6-3A2172C3126A}"/>
              </a:ext>
            </a:extLst>
          </p:cNvPr>
          <p:cNvSpPr/>
          <p:nvPr/>
        </p:nvSpPr>
        <p:spPr>
          <a:xfrm>
            <a:off x="5943600" y="3962400"/>
            <a:ext cx="1295400" cy="228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F46109-D12B-B4BC-4881-004F12CCC505}"/>
              </a:ext>
            </a:extLst>
          </p:cNvPr>
          <p:cNvSpPr/>
          <p:nvPr/>
        </p:nvSpPr>
        <p:spPr>
          <a:xfrm>
            <a:off x="11729330" y="4406900"/>
            <a:ext cx="843669" cy="11557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028412-F0CF-178B-7ED8-5C4C6CDA6C5C}"/>
              </a:ext>
            </a:extLst>
          </p:cNvPr>
          <p:cNvSpPr/>
          <p:nvPr/>
        </p:nvSpPr>
        <p:spPr>
          <a:xfrm>
            <a:off x="12344400" y="6705599"/>
            <a:ext cx="843669" cy="14478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85718B3-4957-DF05-192F-496A197620DA}"/>
              </a:ext>
            </a:extLst>
          </p:cNvPr>
          <p:cNvCxnSpPr/>
          <p:nvPr/>
        </p:nvCxnSpPr>
        <p:spPr>
          <a:xfrm>
            <a:off x="12344400" y="6477000"/>
            <a:ext cx="0" cy="6858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6C8104B3-96DA-9201-D0A4-6D793024258D}"/>
              </a:ext>
            </a:extLst>
          </p:cNvPr>
          <p:cNvCxnSpPr>
            <a:endCxn id="5" idx="2"/>
          </p:cNvCxnSpPr>
          <p:nvPr/>
        </p:nvCxnSpPr>
        <p:spPr>
          <a:xfrm rot="10800000">
            <a:off x="9563100" y="5791200"/>
            <a:ext cx="2781300" cy="685800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FC0481E-BD3B-7E55-D7C2-B633EE5B6882}"/>
              </a:ext>
            </a:extLst>
          </p:cNvPr>
          <p:cNvCxnSpPr/>
          <p:nvPr/>
        </p:nvCxnSpPr>
        <p:spPr>
          <a:xfrm>
            <a:off x="12572999" y="4953000"/>
            <a:ext cx="2590801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3DB4954-4841-C9DB-9E5A-E58FA8C03818}"/>
              </a:ext>
            </a:extLst>
          </p:cNvPr>
          <p:cNvCxnSpPr>
            <a:cxnSpLocks/>
          </p:cNvCxnSpPr>
          <p:nvPr/>
        </p:nvCxnSpPr>
        <p:spPr>
          <a:xfrm>
            <a:off x="10515600" y="6248400"/>
            <a:ext cx="4648200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802E9E7-BC2F-EA88-314F-33C3A2A95AD1}"/>
              </a:ext>
            </a:extLst>
          </p:cNvPr>
          <p:cNvCxnSpPr/>
          <p:nvPr/>
        </p:nvCxnSpPr>
        <p:spPr>
          <a:xfrm>
            <a:off x="10515600" y="5170424"/>
            <a:ext cx="0" cy="107797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464D153-214E-5D87-F34F-A8D9C4B3A1D8}"/>
              </a:ext>
            </a:extLst>
          </p:cNvPr>
          <p:cNvCxnSpPr>
            <a:cxnSpLocks/>
          </p:cNvCxnSpPr>
          <p:nvPr/>
        </p:nvCxnSpPr>
        <p:spPr>
          <a:xfrm>
            <a:off x="10629899" y="5638800"/>
            <a:ext cx="342901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E52F5FE-9ABE-9DD5-BF4A-B116C600602D}"/>
              </a:ext>
            </a:extLst>
          </p:cNvPr>
          <p:cNvCxnSpPr/>
          <p:nvPr/>
        </p:nvCxnSpPr>
        <p:spPr>
          <a:xfrm>
            <a:off x="10629899" y="5638800"/>
            <a:ext cx="0" cy="14478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2BE7334-B5DD-B804-40BE-52A70F7990D3}"/>
              </a:ext>
            </a:extLst>
          </p:cNvPr>
          <p:cNvCxnSpPr/>
          <p:nvPr/>
        </p:nvCxnSpPr>
        <p:spPr>
          <a:xfrm>
            <a:off x="9563100" y="7086600"/>
            <a:ext cx="1066799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6A0A36D-047C-D4D5-03AD-B0E573A88019}"/>
              </a:ext>
            </a:extLst>
          </p:cNvPr>
          <p:cNvSpPr/>
          <p:nvPr/>
        </p:nvSpPr>
        <p:spPr>
          <a:xfrm>
            <a:off x="8229600" y="6705599"/>
            <a:ext cx="1333495" cy="68579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2EC717-5FA5-7D8B-FAF3-4923BDCC0BE6}"/>
              </a:ext>
            </a:extLst>
          </p:cNvPr>
          <p:cNvSpPr/>
          <p:nvPr/>
        </p:nvSpPr>
        <p:spPr>
          <a:xfrm>
            <a:off x="15163800" y="3581400"/>
            <a:ext cx="1600196" cy="5486398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084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180B-7063-0127-4F46-9E7E3A07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3C83AB8-9243-F274-F7C8-20FCC4EA3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6DBC6C2-A2AB-0559-4167-8A4D73608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EC6809E-999F-BEEC-DCC4-C808E45E0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5D5BF9A-CEB6-92CD-4699-4DBC5DA6C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C0852BCB-5065-BD1C-D530-9DBB4126FEF6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B050"/>
                </a:solidFill>
                <a:latin typeface="Pretendard Bold"/>
                <a:ea typeface="Pretendard Bold"/>
                <a:cs typeface="Pretendard Bold"/>
              </a:rPr>
              <a:t>S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028C4D8-8F8B-7A8A-33E7-4EE7CCF76278}"/>
              </a:ext>
            </a:extLst>
          </p:cNvPr>
          <p:cNvGrpSpPr/>
          <p:nvPr/>
        </p:nvGrpSpPr>
        <p:grpSpPr>
          <a:xfrm>
            <a:off x="551688" y="1618488"/>
            <a:ext cx="11099697" cy="10479024"/>
            <a:chOff x="5842051" y="1618488"/>
            <a:chExt cx="11099697" cy="1047902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2CBC6F8-D883-57E0-F02F-6359AC9AC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2051" y="1618488"/>
              <a:ext cx="11099697" cy="10479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9AA064E-315B-FC0A-0AE2-9479F6A17AD8}"/>
                </a:ext>
              </a:extLst>
            </p:cNvPr>
            <p:cNvSpPr/>
            <p:nvPr/>
          </p:nvSpPr>
          <p:spPr>
            <a:xfrm>
              <a:off x="8763000" y="4114800"/>
              <a:ext cx="1600200" cy="1676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0810DE4-49A2-A399-E708-3EF8D3DA8F21}"/>
                </a:ext>
              </a:extLst>
            </p:cNvPr>
            <p:cNvSpPr/>
            <p:nvPr/>
          </p:nvSpPr>
          <p:spPr>
            <a:xfrm>
              <a:off x="5943600" y="3962400"/>
              <a:ext cx="1295400" cy="2286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FBE8646-A7C0-4A75-3BFA-7978EAAE31F6}"/>
                </a:ext>
              </a:extLst>
            </p:cNvPr>
            <p:cNvSpPr/>
            <p:nvPr/>
          </p:nvSpPr>
          <p:spPr>
            <a:xfrm>
              <a:off x="11729330" y="4406900"/>
              <a:ext cx="843669" cy="11557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5839E86-E699-4C5C-D3C2-5C5E40C0099C}"/>
                </a:ext>
              </a:extLst>
            </p:cNvPr>
            <p:cNvSpPr/>
            <p:nvPr/>
          </p:nvSpPr>
          <p:spPr>
            <a:xfrm>
              <a:off x="12344400" y="6705599"/>
              <a:ext cx="843669" cy="1447801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72F6671-95FA-D168-13BD-FFEB91D8C1E9}"/>
                </a:ext>
              </a:extLst>
            </p:cNvPr>
            <p:cNvCxnSpPr/>
            <p:nvPr/>
          </p:nvCxnSpPr>
          <p:spPr>
            <a:xfrm>
              <a:off x="12344400" y="6477000"/>
              <a:ext cx="0" cy="6858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연결선: 꺾임 12">
              <a:extLst>
                <a:ext uri="{FF2B5EF4-FFF2-40B4-BE49-F238E27FC236}">
                  <a16:creationId xmlns:a16="http://schemas.microsoft.com/office/drawing/2014/main" id="{2C8E27CB-E834-CC14-6BD7-F64D84A97790}"/>
                </a:ext>
              </a:extLst>
            </p:cNvPr>
            <p:cNvCxnSpPr>
              <a:endCxn id="4" idx="2"/>
            </p:cNvCxnSpPr>
            <p:nvPr/>
          </p:nvCxnSpPr>
          <p:spPr>
            <a:xfrm rot="10800000">
              <a:off x="9563100" y="5791200"/>
              <a:ext cx="2781300" cy="685800"/>
            </a:xfrm>
            <a:prstGeom prst="bentConnector2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ACF2B51-62D9-6A9C-D9ED-C6C645B23D5C}"/>
                </a:ext>
              </a:extLst>
            </p:cNvPr>
            <p:cNvCxnSpPr/>
            <p:nvPr/>
          </p:nvCxnSpPr>
          <p:spPr>
            <a:xfrm>
              <a:off x="12572999" y="4953000"/>
              <a:ext cx="2590801" cy="0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5123C542-57E3-C9B7-6424-B8BDDD0D211A}"/>
                </a:ext>
              </a:extLst>
            </p:cNvPr>
            <p:cNvCxnSpPr>
              <a:cxnSpLocks/>
            </p:cNvCxnSpPr>
            <p:nvPr/>
          </p:nvCxnSpPr>
          <p:spPr>
            <a:xfrm>
              <a:off x="10515600" y="6248400"/>
              <a:ext cx="4648200" cy="0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42821368-EBAB-23A5-00D4-218588B418CC}"/>
                </a:ext>
              </a:extLst>
            </p:cNvPr>
            <p:cNvCxnSpPr/>
            <p:nvPr/>
          </p:nvCxnSpPr>
          <p:spPr>
            <a:xfrm>
              <a:off x="10515600" y="5170424"/>
              <a:ext cx="0" cy="1077976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8A28B63-9D95-DB9C-6A4F-9B95BA25E715}"/>
                </a:ext>
              </a:extLst>
            </p:cNvPr>
            <p:cNvCxnSpPr>
              <a:cxnSpLocks/>
            </p:cNvCxnSpPr>
            <p:nvPr/>
          </p:nvCxnSpPr>
          <p:spPr>
            <a:xfrm>
              <a:off x="10629899" y="5638800"/>
              <a:ext cx="342901" cy="0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30A65CD-9C89-BF7B-ECD7-CEAC6992E331}"/>
                </a:ext>
              </a:extLst>
            </p:cNvPr>
            <p:cNvCxnSpPr/>
            <p:nvPr/>
          </p:nvCxnSpPr>
          <p:spPr>
            <a:xfrm>
              <a:off x="10629899" y="5638800"/>
              <a:ext cx="0" cy="144780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9D7370E-4818-FD7B-E67E-B8D8C9CF56B3}"/>
                </a:ext>
              </a:extLst>
            </p:cNvPr>
            <p:cNvCxnSpPr/>
            <p:nvPr/>
          </p:nvCxnSpPr>
          <p:spPr>
            <a:xfrm>
              <a:off x="9563100" y="7086600"/>
              <a:ext cx="1066799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50AB836-A4BF-D1F3-8710-7C1AD4DDF64B}"/>
                </a:ext>
              </a:extLst>
            </p:cNvPr>
            <p:cNvSpPr/>
            <p:nvPr/>
          </p:nvSpPr>
          <p:spPr>
            <a:xfrm>
              <a:off x="8229600" y="6705599"/>
              <a:ext cx="1333495" cy="685797"/>
            </a:xfrm>
            <a:prstGeom prst="rect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B23381A-A54D-BAAE-4CA0-C704DF6E8FD5}"/>
                </a:ext>
              </a:extLst>
            </p:cNvPr>
            <p:cNvSpPr/>
            <p:nvPr/>
          </p:nvSpPr>
          <p:spPr>
            <a:xfrm>
              <a:off x="15163800" y="3581400"/>
              <a:ext cx="1600196" cy="5486398"/>
            </a:xfrm>
            <a:prstGeom prst="rect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8C2818D1-0EF7-848C-EE24-C644385175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5989" y="2077047"/>
            <a:ext cx="11674774" cy="235728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A7A8C60-8F3E-B81E-EC7F-09CC41D502EA}"/>
              </a:ext>
            </a:extLst>
          </p:cNvPr>
          <p:cNvSpPr txBox="1"/>
          <p:nvPr/>
        </p:nvSpPr>
        <p:spPr>
          <a:xfrm>
            <a:off x="12248013" y="1811558"/>
            <a:ext cx="3977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Store data into RAM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DD1FA362-9528-DE8F-3E56-721D814882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92120" y="7871636"/>
            <a:ext cx="7056199" cy="39933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0FE2EE0-C7C3-D626-A169-39DF5DD970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50038" y="4844796"/>
            <a:ext cx="9371990" cy="252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40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3A49D-E922-7224-D522-77C1312E3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009FD9-B828-7CB8-37FF-1F2934006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00C1854-28EA-35F3-37D5-8CD6A5F1B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B00E7C85-3881-6437-EA04-B85546697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3E0A25E-E2A4-9EEE-07A6-6BAE4A869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B94ECE4E-CC48-C274-8B56-35029CDA804F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7030A0"/>
                </a:solidFill>
                <a:latin typeface="Pretendard Bold"/>
                <a:ea typeface="Pretendard Bold"/>
                <a:cs typeface="Pretendard Bold"/>
              </a:rPr>
              <a:t>L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1A25F63-C547-18BD-CC28-725E6354F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51" y="1618488"/>
            <a:ext cx="11099697" cy="10479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598ED1-C520-E344-7E92-1620A2F268D0}"/>
              </a:ext>
            </a:extLst>
          </p:cNvPr>
          <p:cNvSpPr/>
          <p:nvPr/>
        </p:nvSpPr>
        <p:spPr>
          <a:xfrm>
            <a:off x="8763000" y="4114800"/>
            <a:ext cx="1600200" cy="1676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F07BFE7-F7FC-C6E8-8F01-6ACC8BD29712}"/>
              </a:ext>
            </a:extLst>
          </p:cNvPr>
          <p:cNvSpPr/>
          <p:nvPr/>
        </p:nvSpPr>
        <p:spPr>
          <a:xfrm>
            <a:off x="5943600" y="3962400"/>
            <a:ext cx="1295400" cy="228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8D0589-0C08-F4EA-0FCF-91A08E9E9DD1}"/>
              </a:ext>
            </a:extLst>
          </p:cNvPr>
          <p:cNvSpPr/>
          <p:nvPr/>
        </p:nvSpPr>
        <p:spPr>
          <a:xfrm>
            <a:off x="11729330" y="4406900"/>
            <a:ext cx="843669" cy="1155700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2606E4A-BAAC-372E-AC50-1396D19F2FEA}"/>
              </a:ext>
            </a:extLst>
          </p:cNvPr>
          <p:cNvSpPr/>
          <p:nvPr/>
        </p:nvSpPr>
        <p:spPr>
          <a:xfrm>
            <a:off x="12344400" y="6705599"/>
            <a:ext cx="843669" cy="1447801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CD310D6-4F38-146E-EE7D-5C31AE9BB821}"/>
              </a:ext>
            </a:extLst>
          </p:cNvPr>
          <p:cNvCxnSpPr/>
          <p:nvPr/>
        </p:nvCxnSpPr>
        <p:spPr>
          <a:xfrm>
            <a:off x="12344400" y="6477000"/>
            <a:ext cx="0" cy="68580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40D07EF3-4C9A-4252-AAFD-DA6E211B51AE}"/>
              </a:ext>
            </a:extLst>
          </p:cNvPr>
          <p:cNvCxnSpPr>
            <a:endCxn id="25" idx="2"/>
          </p:cNvCxnSpPr>
          <p:nvPr/>
        </p:nvCxnSpPr>
        <p:spPr>
          <a:xfrm rot="10800000">
            <a:off x="9563100" y="5791200"/>
            <a:ext cx="2781300" cy="685800"/>
          </a:xfrm>
          <a:prstGeom prst="bentConnector2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C452970-EC60-AC98-AF08-EC0A1F52F3C2}"/>
              </a:ext>
            </a:extLst>
          </p:cNvPr>
          <p:cNvCxnSpPr/>
          <p:nvPr/>
        </p:nvCxnSpPr>
        <p:spPr>
          <a:xfrm>
            <a:off x="12572999" y="4953000"/>
            <a:ext cx="2590801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28FA9A0-A3F1-DA11-F585-B1FD75A1AE44}"/>
              </a:ext>
            </a:extLst>
          </p:cNvPr>
          <p:cNvCxnSpPr>
            <a:cxnSpLocks/>
          </p:cNvCxnSpPr>
          <p:nvPr/>
        </p:nvCxnSpPr>
        <p:spPr>
          <a:xfrm>
            <a:off x="10629899" y="5638800"/>
            <a:ext cx="342901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434A944-F46D-4A6E-3218-B39DFA822A26}"/>
              </a:ext>
            </a:extLst>
          </p:cNvPr>
          <p:cNvCxnSpPr/>
          <p:nvPr/>
        </p:nvCxnSpPr>
        <p:spPr>
          <a:xfrm>
            <a:off x="10629899" y="5638800"/>
            <a:ext cx="0" cy="144780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669E1DF-B915-349E-A10F-E395C9B9F06C}"/>
              </a:ext>
            </a:extLst>
          </p:cNvPr>
          <p:cNvCxnSpPr/>
          <p:nvPr/>
        </p:nvCxnSpPr>
        <p:spPr>
          <a:xfrm>
            <a:off x="9563100" y="7086600"/>
            <a:ext cx="1066799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D31D8DE-872D-704D-0DA8-59CA7E947A8D}"/>
              </a:ext>
            </a:extLst>
          </p:cNvPr>
          <p:cNvSpPr/>
          <p:nvPr/>
        </p:nvSpPr>
        <p:spPr>
          <a:xfrm>
            <a:off x="8229600" y="6705599"/>
            <a:ext cx="1333495" cy="68579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580B53F-4FAB-76FD-9F5F-C0D97293BC97}"/>
              </a:ext>
            </a:extLst>
          </p:cNvPr>
          <p:cNvSpPr/>
          <p:nvPr/>
        </p:nvSpPr>
        <p:spPr>
          <a:xfrm>
            <a:off x="15163800" y="3581400"/>
            <a:ext cx="1600196" cy="5486398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6B55EC8-95AC-496E-5CED-A8D376DAAB88}"/>
              </a:ext>
            </a:extLst>
          </p:cNvPr>
          <p:cNvCxnSpPr/>
          <p:nvPr/>
        </p:nvCxnSpPr>
        <p:spPr>
          <a:xfrm flipH="1">
            <a:off x="13188069" y="7162800"/>
            <a:ext cx="1975731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3C7CF5C-EA4E-B2D7-C71F-6B54CEEF5BEC}"/>
              </a:ext>
            </a:extLst>
          </p:cNvPr>
          <p:cNvCxnSpPr/>
          <p:nvPr/>
        </p:nvCxnSpPr>
        <p:spPr>
          <a:xfrm>
            <a:off x="10363200" y="4495800"/>
            <a:ext cx="136613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46B7BFE-4A9C-E5EC-147F-153B02879442}"/>
              </a:ext>
            </a:extLst>
          </p:cNvPr>
          <p:cNvSpPr txBox="1"/>
          <p:nvPr/>
        </p:nvSpPr>
        <p:spPr>
          <a:xfrm>
            <a:off x="2128163" y="4495800"/>
            <a:ext cx="3536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err="1">
                <a:latin typeface="Pretendard SemiBold" panose="020B0600000101010101" charset="-127"/>
                <a:ea typeface="Pretendard SemiBold" panose="020B0600000101010101" charset="-127"/>
              </a:rPr>
              <a:t>rd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 = M[rs1 + </a:t>
            </a:r>
            <a:r>
              <a:rPr lang="en-US" altLang="ko-KR" sz="3200" dirty="0" err="1">
                <a:latin typeface="Pretendard SemiBold" panose="020B0600000101010101" charset="-127"/>
                <a:ea typeface="Pretendard SemiBold" panose="020B0600000101010101" charset="-127"/>
              </a:rPr>
              <a:t>imm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]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4525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91AA-5350-3978-EE24-6865450C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F96C539-05B6-880D-082C-9068E95C2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9F8C273-C959-DD80-1730-023B6507D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46D9B716-7823-FCCE-B342-5C89A1102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71074AE-2D80-E192-EC87-9064C535D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3414653F-91D9-0456-C0F5-096568725387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7030A0"/>
                </a:solidFill>
                <a:latin typeface="Pretendard Bold"/>
                <a:ea typeface="Pretendard Bold"/>
                <a:cs typeface="Pretendard Bold"/>
              </a:rPr>
              <a:t>L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2D6E9D0-E23E-450F-81CC-0740CD6F6827}"/>
              </a:ext>
            </a:extLst>
          </p:cNvPr>
          <p:cNvGrpSpPr/>
          <p:nvPr/>
        </p:nvGrpSpPr>
        <p:grpSpPr>
          <a:xfrm>
            <a:off x="533400" y="1723644"/>
            <a:ext cx="11099697" cy="10479024"/>
            <a:chOff x="5842051" y="1618488"/>
            <a:chExt cx="11099697" cy="1047902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4E6EB50-9E53-6DB9-6E21-F7585DEE9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2051" y="1618488"/>
              <a:ext cx="11099697" cy="10479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EE75CA5-F603-148F-6515-048AE5804E45}"/>
                </a:ext>
              </a:extLst>
            </p:cNvPr>
            <p:cNvSpPr/>
            <p:nvPr/>
          </p:nvSpPr>
          <p:spPr>
            <a:xfrm>
              <a:off x="8763000" y="4114800"/>
              <a:ext cx="1600200" cy="1676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98E1E54-59D5-8172-3E2A-F1E23282A055}"/>
                </a:ext>
              </a:extLst>
            </p:cNvPr>
            <p:cNvSpPr/>
            <p:nvPr/>
          </p:nvSpPr>
          <p:spPr>
            <a:xfrm>
              <a:off x="5943600" y="3962400"/>
              <a:ext cx="1295400" cy="2286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37DF76C-8D56-C4B3-E884-2DD7709EB2CB}"/>
                </a:ext>
              </a:extLst>
            </p:cNvPr>
            <p:cNvSpPr/>
            <p:nvPr/>
          </p:nvSpPr>
          <p:spPr>
            <a:xfrm>
              <a:off x="11729330" y="4406900"/>
              <a:ext cx="843669" cy="1155700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A7652A0-0431-C757-D89E-2406163C231C}"/>
                </a:ext>
              </a:extLst>
            </p:cNvPr>
            <p:cNvSpPr/>
            <p:nvPr/>
          </p:nvSpPr>
          <p:spPr>
            <a:xfrm>
              <a:off x="12344400" y="6705599"/>
              <a:ext cx="843669" cy="1447801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97443B2-DFE5-8FBF-61F7-0B5360162E53}"/>
                </a:ext>
              </a:extLst>
            </p:cNvPr>
            <p:cNvCxnSpPr/>
            <p:nvPr/>
          </p:nvCxnSpPr>
          <p:spPr>
            <a:xfrm>
              <a:off x="12344400" y="6477000"/>
              <a:ext cx="0" cy="68580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연결선: 꺾임 12">
              <a:extLst>
                <a:ext uri="{FF2B5EF4-FFF2-40B4-BE49-F238E27FC236}">
                  <a16:creationId xmlns:a16="http://schemas.microsoft.com/office/drawing/2014/main" id="{F330E4BD-6141-AAE1-6759-9270BA94CEF5}"/>
                </a:ext>
              </a:extLst>
            </p:cNvPr>
            <p:cNvCxnSpPr>
              <a:endCxn id="4" idx="2"/>
            </p:cNvCxnSpPr>
            <p:nvPr/>
          </p:nvCxnSpPr>
          <p:spPr>
            <a:xfrm rot="10800000">
              <a:off x="9563100" y="5791200"/>
              <a:ext cx="2781300" cy="685800"/>
            </a:xfrm>
            <a:prstGeom prst="bentConnector2">
              <a:avLst/>
            </a:prstGeom>
            <a:ln w="762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B9ABA9D9-F11C-6683-0602-C710082F497D}"/>
                </a:ext>
              </a:extLst>
            </p:cNvPr>
            <p:cNvCxnSpPr/>
            <p:nvPr/>
          </p:nvCxnSpPr>
          <p:spPr>
            <a:xfrm>
              <a:off x="12572999" y="4953000"/>
              <a:ext cx="2590801" cy="0"/>
            </a:xfrm>
            <a:prstGeom prst="straightConnector1">
              <a:avLst/>
            </a:prstGeom>
            <a:ln w="762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BE4758E3-BECC-F78A-D222-780A03B50C35}"/>
                </a:ext>
              </a:extLst>
            </p:cNvPr>
            <p:cNvCxnSpPr>
              <a:cxnSpLocks/>
            </p:cNvCxnSpPr>
            <p:nvPr/>
          </p:nvCxnSpPr>
          <p:spPr>
            <a:xfrm>
              <a:off x="10629899" y="5638800"/>
              <a:ext cx="342901" cy="0"/>
            </a:xfrm>
            <a:prstGeom prst="straightConnector1">
              <a:avLst/>
            </a:prstGeom>
            <a:ln w="762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9C312E8A-4447-712D-55AD-A238AC436F80}"/>
                </a:ext>
              </a:extLst>
            </p:cNvPr>
            <p:cNvCxnSpPr/>
            <p:nvPr/>
          </p:nvCxnSpPr>
          <p:spPr>
            <a:xfrm>
              <a:off x="10629899" y="5638800"/>
              <a:ext cx="0" cy="144780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BF52F3E8-E68F-0CF3-25B6-F3B80719B0CB}"/>
                </a:ext>
              </a:extLst>
            </p:cNvPr>
            <p:cNvCxnSpPr/>
            <p:nvPr/>
          </p:nvCxnSpPr>
          <p:spPr>
            <a:xfrm>
              <a:off x="9563100" y="7086600"/>
              <a:ext cx="1066799" cy="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C17A988-F3A6-E4FA-6968-328470D2D017}"/>
                </a:ext>
              </a:extLst>
            </p:cNvPr>
            <p:cNvSpPr/>
            <p:nvPr/>
          </p:nvSpPr>
          <p:spPr>
            <a:xfrm>
              <a:off x="8229600" y="6705599"/>
              <a:ext cx="1333495" cy="685797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85807B0-C1EB-CE12-38AA-E1726DA5813A}"/>
                </a:ext>
              </a:extLst>
            </p:cNvPr>
            <p:cNvSpPr/>
            <p:nvPr/>
          </p:nvSpPr>
          <p:spPr>
            <a:xfrm>
              <a:off x="15163800" y="3581400"/>
              <a:ext cx="1600196" cy="5486398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538C32E9-656F-F156-E4AF-B0353D0A91AE}"/>
                </a:ext>
              </a:extLst>
            </p:cNvPr>
            <p:cNvCxnSpPr/>
            <p:nvPr/>
          </p:nvCxnSpPr>
          <p:spPr>
            <a:xfrm flipH="1">
              <a:off x="13188069" y="7162800"/>
              <a:ext cx="1975731" cy="0"/>
            </a:xfrm>
            <a:prstGeom prst="straightConnector1">
              <a:avLst/>
            </a:prstGeom>
            <a:ln w="762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3FC87D4C-1957-C80C-FE2C-494802058728}"/>
                </a:ext>
              </a:extLst>
            </p:cNvPr>
            <p:cNvCxnSpPr/>
            <p:nvPr/>
          </p:nvCxnSpPr>
          <p:spPr>
            <a:xfrm>
              <a:off x="10363200" y="4495800"/>
              <a:ext cx="1366130" cy="0"/>
            </a:xfrm>
            <a:prstGeom prst="straightConnector1">
              <a:avLst/>
            </a:prstGeom>
            <a:ln w="762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739CD4A3-AC0E-C66E-792D-C9EF67D96A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4948" y="2146545"/>
            <a:ext cx="11886024" cy="247625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36BE8CE-E491-F0E1-8838-E1E2608724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75999" y="4835153"/>
            <a:ext cx="6063922" cy="245006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9A77DF4-6588-B6F4-C31A-A438D2D732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41177" y="7521185"/>
            <a:ext cx="9933566" cy="471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50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7923A-452A-BECA-C020-D4893A5DF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CAF505C-76C3-129B-4FB3-438941DF9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7B5755E-F75A-9548-F30F-F77DC41E3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F39EBDA0-E893-8833-E1BE-93FC6A2AF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CC4922F4-667B-F220-546C-50B9DD329D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10EE9E74-79AA-D0E4-5ED9-F172C292FB75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B050"/>
                </a:solidFill>
                <a:latin typeface="Pretendard Bold"/>
                <a:ea typeface="Pretendard Bold"/>
                <a:cs typeface="Pretendard Bold"/>
              </a:rPr>
              <a:t>S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 &amp; </a:t>
            </a:r>
            <a:r>
              <a:rPr lang="en-US" altLang="ko-KR" sz="6666" dirty="0">
                <a:solidFill>
                  <a:srgbClr val="7030A0"/>
                </a:solidFill>
                <a:latin typeface="Pretendard Bold"/>
                <a:ea typeface="Pretendard Bold"/>
                <a:cs typeface="Pretendard Bold"/>
              </a:rPr>
              <a:t>L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478884"/>
              </p:ext>
            </p:extLst>
          </p:nvPr>
        </p:nvGraphicFramePr>
        <p:xfrm>
          <a:off x="12192000" y="1895895"/>
          <a:ext cx="8974108" cy="9848010"/>
        </p:xfrm>
        <a:graphic>
          <a:graphicData uri="http://schemas.openxmlformats.org/drawingml/2006/table">
            <a:tbl>
              <a:tblPr/>
              <a:tblGrid>
                <a:gridCol w="1851530">
                  <a:extLst>
                    <a:ext uri="{9D8B030D-6E8A-4147-A177-3AD203B41FA5}">
                      <a16:colId xmlns:a16="http://schemas.microsoft.com/office/drawing/2014/main" val="3567463636"/>
                    </a:ext>
                  </a:extLst>
                </a:gridCol>
                <a:gridCol w="2339455">
                  <a:extLst>
                    <a:ext uri="{9D8B030D-6E8A-4147-A177-3AD203B41FA5}">
                      <a16:colId xmlns:a16="http://schemas.microsoft.com/office/drawing/2014/main" val="2941218365"/>
                    </a:ext>
                  </a:extLst>
                </a:gridCol>
                <a:gridCol w="2931593">
                  <a:extLst>
                    <a:ext uri="{9D8B030D-6E8A-4147-A177-3AD203B41FA5}">
                      <a16:colId xmlns:a16="http://schemas.microsoft.com/office/drawing/2014/main" val="1290620550"/>
                    </a:ext>
                  </a:extLst>
                </a:gridCol>
                <a:gridCol w="1851530">
                  <a:extLst>
                    <a:ext uri="{9D8B030D-6E8A-4147-A177-3AD203B41FA5}">
                      <a16:colId xmlns:a16="http://schemas.microsoft.com/office/drawing/2014/main" val="3031508138"/>
                    </a:ext>
                  </a:extLst>
                </a:gridCol>
              </a:tblGrid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Instruction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동작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결과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7608099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addi x3,x0,16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base </a:t>
                      </a:r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주소 설정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x3=0x10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8514549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addi x11,x0,-1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-1 </a:t>
                      </a:r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생성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x11=FFFFFFFF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2029527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lui</a:t>
                      </a: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x12,0x10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upper </a:t>
                      </a:r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생성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x12=00010000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167349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addi</a:t>
                      </a: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x12,x12,-1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하위값 조정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x12=0000FFFF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7705262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sb x11,0(x3)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byte </a:t>
                      </a:r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저장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MEM[0x10]=FF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2292313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5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sh x12,4(x3)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half </a:t>
                      </a:r>
                      <a:r>
                        <a:rPr lang="ko-KR" alt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저장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MEM[0x14]=FFFF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6433688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sw x11,8(x3)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word </a:t>
                      </a:r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저장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MEM[0x18]=FFFFFFFF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174756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7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lb x8,0(x3)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signed byte load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x8=FFFFFFFF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9238498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lbu x9,0(x3)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unsigned byte load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x9=000000FF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9509741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9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lh</a:t>
                      </a: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x10,4(x3)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signed half load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x10=FFFFFFFF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278408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10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lhu x11,4(x3)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unsigned half load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x11=0000FFFF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4204302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11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lw</a:t>
                      </a: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x12,8(x3)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word load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x12=FFFFFFFF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447519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2819400"/>
            <a:ext cx="9271000" cy="835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45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A214-5AE0-7575-30AD-002ECCCC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7A0AA72-280A-C4C8-B977-2E66AF861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8770C00-6B6D-C526-C43F-38FBB9277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ED79B9A-A1D5-0646-A64C-617DF318F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0A947B1-293D-812F-DD35-DF083A5CAB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81430815-BE29-7E0A-301F-123402954381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B050"/>
                </a:solidFill>
                <a:latin typeface="Pretendard Bold"/>
                <a:ea typeface="Pretendard Bold"/>
                <a:cs typeface="Pretendard Bold"/>
              </a:rPr>
              <a:t>S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 &amp; </a:t>
            </a:r>
            <a:r>
              <a:rPr lang="en-US" altLang="ko-KR" sz="6666" dirty="0">
                <a:solidFill>
                  <a:srgbClr val="7030A0"/>
                </a:solidFill>
                <a:latin typeface="Pretendard Bold"/>
                <a:ea typeface="Pretendard Bold"/>
                <a:cs typeface="Pretendard Bold"/>
              </a:rPr>
              <a:t>L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2667000"/>
            <a:ext cx="11811000" cy="7951672"/>
          </a:xfrm>
          <a:prstGeom prst="rect">
            <a:avLst/>
          </a:prstGeom>
        </p:spPr>
      </p:pic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197205"/>
              </p:ext>
            </p:extLst>
          </p:nvPr>
        </p:nvGraphicFramePr>
        <p:xfrm>
          <a:off x="14393892" y="1895895"/>
          <a:ext cx="8974108" cy="9848010"/>
        </p:xfrm>
        <a:graphic>
          <a:graphicData uri="http://schemas.openxmlformats.org/drawingml/2006/table">
            <a:tbl>
              <a:tblPr/>
              <a:tblGrid>
                <a:gridCol w="1851530">
                  <a:extLst>
                    <a:ext uri="{9D8B030D-6E8A-4147-A177-3AD203B41FA5}">
                      <a16:colId xmlns:a16="http://schemas.microsoft.com/office/drawing/2014/main" val="3567463636"/>
                    </a:ext>
                  </a:extLst>
                </a:gridCol>
                <a:gridCol w="2339455">
                  <a:extLst>
                    <a:ext uri="{9D8B030D-6E8A-4147-A177-3AD203B41FA5}">
                      <a16:colId xmlns:a16="http://schemas.microsoft.com/office/drawing/2014/main" val="2941218365"/>
                    </a:ext>
                  </a:extLst>
                </a:gridCol>
                <a:gridCol w="2931593">
                  <a:extLst>
                    <a:ext uri="{9D8B030D-6E8A-4147-A177-3AD203B41FA5}">
                      <a16:colId xmlns:a16="http://schemas.microsoft.com/office/drawing/2014/main" val="1290620550"/>
                    </a:ext>
                  </a:extLst>
                </a:gridCol>
                <a:gridCol w="1851530">
                  <a:extLst>
                    <a:ext uri="{9D8B030D-6E8A-4147-A177-3AD203B41FA5}">
                      <a16:colId xmlns:a16="http://schemas.microsoft.com/office/drawing/2014/main" val="3031508138"/>
                    </a:ext>
                  </a:extLst>
                </a:gridCol>
              </a:tblGrid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Instruction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동작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결과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7608099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addi x3,x0,16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base </a:t>
                      </a:r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주소 설정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x3=0x10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8514549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addi x11,x0,-1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-1 </a:t>
                      </a:r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생성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x11=FFFFFFFF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2029527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lui</a:t>
                      </a: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x12,0x10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upper </a:t>
                      </a:r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생성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x12=00010000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167349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addi</a:t>
                      </a: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x12,x12,-1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하위값 조정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x12=0000FFFF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7705262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sb x11,0(x3)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byte </a:t>
                      </a:r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저장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MEM[0x10]=FF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2292313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5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sh x12,4(x3)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half </a:t>
                      </a:r>
                      <a:r>
                        <a:rPr lang="ko-KR" alt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저장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MEM[0x14]=FFFF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6433688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sw x11,8(x3)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word </a:t>
                      </a:r>
                      <a:r>
                        <a:rPr lang="ko-KR" alt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저장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MEM[0x18]=FFFFFFFF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174756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7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lb x8,0(x3)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signed byte load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x8=FFFFFFFF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9238498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lbu x9,0(x3)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unsigned byte load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x9=000000FF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9509741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9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lh</a:t>
                      </a: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x10,4(x3)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signed half load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x10=FFFFFFFF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278408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10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lhu x11,4(x3)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unsigned half load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x11=0000FFFF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4204302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11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lw</a:t>
                      </a:r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x12,8(x3)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word load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x12=FFFFFFFF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447519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10896600" y="8839200"/>
            <a:ext cx="9906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>
            <a:endCxn id="9" idx="3"/>
          </p:cNvCxnSpPr>
          <p:nvPr/>
        </p:nvCxnSpPr>
        <p:spPr>
          <a:xfrm flipH="1">
            <a:off x="11887200" y="8077200"/>
            <a:ext cx="2506692" cy="9144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11239500" y="9144000"/>
            <a:ext cx="8382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/>
          <p:cNvCxnSpPr>
            <a:endCxn id="18" idx="3"/>
          </p:cNvCxnSpPr>
          <p:nvPr/>
        </p:nvCxnSpPr>
        <p:spPr>
          <a:xfrm flipH="1">
            <a:off x="12077700" y="8915400"/>
            <a:ext cx="2316192" cy="381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11453004" y="9547613"/>
            <a:ext cx="8382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>
            <a:endCxn id="28" idx="3"/>
          </p:cNvCxnSpPr>
          <p:nvPr/>
        </p:nvCxnSpPr>
        <p:spPr>
          <a:xfrm flipH="1">
            <a:off x="12291204" y="9688221"/>
            <a:ext cx="2102688" cy="1179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1734800" y="9918357"/>
            <a:ext cx="8382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>
            <a:endCxn id="30" idx="3"/>
          </p:cNvCxnSpPr>
          <p:nvPr/>
        </p:nvCxnSpPr>
        <p:spPr>
          <a:xfrm flipH="1" flipV="1">
            <a:off x="12573000" y="10070757"/>
            <a:ext cx="1820892" cy="42724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11887200" y="10261257"/>
            <a:ext cx="8382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/>
          <p:cNvCxnSpPr>
            <a:endCxn id="32" idx="3"/>
          </p:cNvCxnSpPr>
          <p:nvPr/>
        </p:nvCxnSpPr>
        <p:spPr>
          <a:xfrm flipH="1" flipV="1">
            <a:off x="12725400" y="10413657"/>
            <a:ext cx="1668492" cy="8637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7086600" y="4800600"/>
            <a:ext cx="4648200" cy="1066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14393892" y="5257800"/>
            <a:ext cx="8974108" cy="24115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/>
          <p:cNvCxnSpPr>
            <a:stCxn id="38" idx="1"/>
            <a:endCxn id="37" idx="3"/>
          </p:cNvCxnSpPr>
          <p:nvPr/>
        </p:nvCxnSpPr>
        <p:spPr>
          <a:xfrm flipH="1" flipV="1">
            <a:off x="11734800" y="5334000"/>
            <a:ext cx="2659092" cy="112956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918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9EDAE-6EC9-B697-1887-F50A76FA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CCE4E5A-1FE9-3E08-9218-AC44DE3CE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D9A50BB-525F-DDDB-E49D-18134D86C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B866A8A-22F4-4044-97CB-926B510D5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8B26DFD-36D8-9DB6-F4EF-6E116482A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5CD6A294-07DA-F90A-43A5-8BC7D188226C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FFC000"/>
                </a:solidFill>
                <a:latin typeface="Pretendard Bold"/>
                <a:ea typeface="Pretendard Bold"/>
                <a:cs typeface="Pretendard Bold"/>
              </a:rPr>
              <a:t>B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9D5A95F-724E-15F7-9973-6442DCD6D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50" y="1618488"/>
            <a:ext cx="11099697" cy="10479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6C6EB5-73D9-7EF8-A59A-A5B87D6A42DB}"/>
              </a:ext>
            </a:extLst>
          </p:cNvPr>
          <p:cNvSpPr/>
          <p:nvPr/>
        </p:nvSpPr>
        <p:spPr>
          <a:xfrm>
            <a:off x="8763000" y="4114800"/>
            <a:ext cx="1600200" cy="1676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BC65700-B192-3DCE-1940-BE8EF5EEB6DD}"/>
              </a:ext>
            </a:extLst>
          </p:cNvPr>
          <p:cNvSpPr/>
          <p:nvPr/>
        </p:nvSpPr>
        <p:spPr>
          <a:xfrm>
            <a:off x="5943600" y="3962400"/>
            <a:ext cx="1295400" cy="228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A7EABA8-0624-79CB-9D1A-70D7029C1AA4}"/>
              </a:ext>
            </a:extLst>
          </p:cNvPr>
          <p:cNvSpPr/>
          <p:nvPr/>
        </p:nvSpPr>
        <p:spPr>
          <a:xfrm>
            <a:off x="11729330" y="4406900"/>
            <a:ext cx="843669" cy="11557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879A08A-D0D0-A629-F118-AFD1EE191AA0}"/>
              </a:ext>
            </a:extLst>
          </p:cNvPr>
          <p:cNvCxnSpPr>
            <a:cxnSpLocks/>
          </p:cNvCxnSpPr>
          <p:nvPr/>
        </p:nvCxnSpPr>
        <p:spPr>
          <a:xfrm>
            <a:off x="10363200" y="4528312"/>
            <a:ext cx="1366130" cy="4368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28A0490-F3F3-25D2-8899-B6980307EFC4}"/>
              </a:ext>
            </a:extLst>
          </p:cNvPr>
          <p:cNvCxnSpPr>
            <a:cxnSpLocks/>
          </p:cNvCxnSpPr>
          <p:nvPr/>
        </p:nvCxnSpPr>
        <p:spPr>
          <a:xfrm>
            <a:off x="10363200" y="5170424"/>
            <a:ext cx="457200" cy="4368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B5FA280-D517-0BF8-538A-FB1B17199D85}"/>
              </a:ext>
            </a:extLst>
          </p:cNvPr>
          <p:cNvCxnSpPr/>
          <p:nvPr/>
        </p:nvCxnSpPr>
        <p:spPr>
          <a:xfrm>
            <a:off x="11391899" y="5410200"/>
            <a:ext cx="33743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34405D3-9512-DB51-6B44-054D451528B2}"/>
              </a:ext>
            </a:extLst>
          </p:cNvPr>
          <p:cNvSpPr/>
          <p:nvPr/>
        </p:nvSpPr>
        <p:spPr>
          <a:xfrm>
            <a:off x="7848600" y="8382001"/>
            <a:ext cx="5753100" cy="3584955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DD74260-4B03-4B81-AB6B-F12DE6694525}"/>
              </a:ext>
            </a:extLst>
          </p:cNvPr>
          <p:cNvSpPr/>
          <p:nvPr/>
        </p:nvSpPr>
        <p:spPr>
          <a:xfrm>
            <a:off x="8264965" y="6741668"/>
            <a:ext cx="1336235" cy="64973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16F936D-CDDA-45E7-53A0-03DF7C7979A7}"/>
              </a:ext>
            </a:extLst>
          </p:cNvPr>
          <p:cNvCxnSpPr/>
          <p:nvPr/>
        </p:nvCxnSpPr>
        <p:spPr>
          <a:xfrm>
            <a:off x="9601200" y="7086600"/>
            <a:ext cx="2590800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9296C053-F5F5-04EE-522E-A55AF7147E7F}"/>
              </a:ext>
            </a:extLst>
          </p:cNvPr>
          <p:cNvCxnSpPr>
            <a:cxnSpLocks/>
          </p:cNvCxnSpPr>
          <p:nvPr/>
        </p:nvCxnSpPr>
        <p:spPr>
          <a:xfrm rot="5400000">
            <a:off x="11222122" y="7751679"/>
            <a:ext cx="1792734" cy="310177"/>
          </a:xfrm>
          <a:prstGeom prst="bentConnector3">
            <a:avLst>
              <a:gd name="adj1" fmla="val 99986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9031F3F5-4D43-226D-5000-28BE4B45DE65}"/>
              </a:ext>
            </a:extLst>
          </p:cNvPr>
          <p:cNvCxnSpPr/>
          <p:nvPr/>
        </p:nvCxnSpPr>
        <p:spPr>
          <a:xfrm flipV="1">
            <a:off x="6553200" y="6248400"/>
            <a:ext cx="0" cy="312420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03AC593-73E5-5414-7D52-FE41AC99D0BE}"/>
              </a:ext>
            </a:extLst>
          </p:cNvPr>
          <p:cNvCxnSpPr/>
          <p:nvPr/>
        </p:nvCxnSpPr>
        <p:spPr>
          <a:xfrm>
            <a:off x="6553200" y="9372600"/>
            <a:ext cx="1524000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1F304D4-0CD3-176A-7423-4FD368D30331}"/>
              </a:ext>
            </a:extLst>
          </p:cNvPr>
          <p:cNvSpPr txBox="1"/>
          <p:nvPr/>
        </p:nvSpPr>
        <p:spPr>
          <a:xfrm>
            <a:off x="14237208" y="8699212"/>
            <a:ext cx="740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solidFill>
                  <a:schemeClr val="accent6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rs1</a:t>
            </a:r>
            <a:endParaRPr lang="ko-KR" altLang="en-US" sz="3200" dirty="0">
              <a:solidFill>
                <a:schemeClr val="accent6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55A454AE-3A0D-7218-18F5-948DF1F7B105}"/>
              </a:ext>
            </a:extLst>
          </p:cNvPr>
          <p:cNvCxnSpPr/>
          <p:nvPr/>
        </p:nvCxnSpPr>
        <p:spPr>
          <a:xfrm flipH="1">
            <a:off x="13030200" y="8991600"/>
            <a:ext cx="1143000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548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9298-3CE8-8EA1-7360-9ADA98CC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7D47809-B63F-8D73-E9EC-92450F12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7D661A3-F258-F700-111B-E51748F8A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AF3E0AB9-D887-82A2-52ED-83F3B06EE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030CC1A-B94A-1D7E-D45A-EB1C4A50C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09ACFB78-A3D8-CAB5-065D-03A5D6839A09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FFC000"/>
                </a:solidFill>
                <a:latin typeface="Pretendard Bold"/>
                <a:ea typeface="Pretendard Bold"/>
                <a:cs typeface="Pretendard Bold"/>
              </a:rPr>
              <a:t>B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56D9C4-EFBF-37AB-B96D-A97E754501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61684" y="5638800"/>
            <a:ext cx="6273903" cy="6467941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3DE5BA5B-0AFE-A19A-C896-5FB864DF6194}"/>
              </a:ext>
            </a:extLst>
          </p:cNvPr>
          <p:cNvGrpSpPr/>
          <p:nvPr/>
        </p:nvGrpSpPr>
        <p:grpSpPr>
          <a:xfrm>
            <a:off x="533400" y="1618488"/>
            <a:ext cx="11099697" cy="10479024"/>
            <a:chOff x="5842050" y="1618488"/>
            <a:chExt cx="11099697" cy="1047902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0C145BF-60AE-D69A-AF3C-02884498B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42050" y="1618488"/>
              <a:ext cx="11099697" cy="10479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A04549-40E2-1045-C8D7-353A5480E0C6}"/>
                </a:ext>
              </a:extLst>
            </p:cNvPr>
            <p:cNvSpPr/>
            <p:nvPr/>
          </p:nvSpPr>
          <p:spPr>
            <a:xfrm>
              <a:off x="8763000" y="4114800"/>
              <a:ext cx="1600200" cy="1676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8CDE4EE-1406-0B47-15C4-F35E0F61F849}"/>
                </a:ext>
              </a:extLst>
            </p:cNvPr>
            <p:cNvSpPr/>
            <p:nvPr/>
          </p:nvSpPr>
          <p:spPr>
            <a:xfrm>
              <a:off x="5943600" y="3962400"/>
              <a:ext cx="1295400" cy="2286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0DB38B5-3BEC-15E4-C7D0-FBC5D80C79C8}"/>
                </a:ext>
              </a:extLst>
            </p:cNvPr>
            <p:cNvSpPr/>
            <p:nvPr/>
          </p:nvSpPr>
          <p:spPr>
            <a:xfrm>
              <a:off x="11729330" y="4406900"/>
              <a:ext cx="843669" cy="11557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8CECFBD4-D44D-8FDB-D1A6-40761B74EEF6}"/>
                </a:ext>
              </a:extLst>
            </p:cNvPr>
            <p:cNvCxnSpPr>
              <a:cxnSpLocks/>
            </p:cNvCxnSpPr>
            <p:nvPr/>
          </p:nvCxnSpPr>
          <p:spPr>
            <a:xfrm>
              <a:off x="10363200" y="4528312"/>
              <a:ext cx="1366130" cy="4368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EFDBC84-A10E-02CF-FAA9-3B5D18825EFD}"/>
                </a:ext>
              </a:extLst>
            </p:cNvPr>
            <p:cNvCxnSpPr>
              <a:cxnSpLocks/>
            </p:cNvCxnSpPr>
            <p:nvPr/>
          </p:nvCxnSpPr>
          <p:spPr>
            <a:xfrm>
              <a:off x="10363200" y="5170424"/>
              <a:ext cx="457200" cy="4368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9CBFA5DA-F33E-8A45-CBDB-8BC35CF9D043}"/>
                </a:ext>
              </a:extLst>
            </p:cNvPr>
            <p:cNvCxnSpPr/>
            <p:nvPr/>
          </p:nvCxnSpPr>
          <p:spPr>
            <a:xfrm>
              <a:off x="11391899" y="5410200"/>
              <a:ext cx="33743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D5857B7-FA64-3C6B-1E84-62B3CD1EE13F}"/>
                </a:ext>
              </a:extLst>
            </p:cNvPr>
            <p:cNvSpPr/>
            <p:nvPr/>
          </p:nvSpPr>
          <p:spPr>
            <a:xfrm>
              <a:off x="7848600" y="8382001"/>
              <a:ext cx="5753100" cy="3584955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E935DEF-AD76-9642-1F25-63D02987F795}"/>
                </a:ext>
              </a:extLst>
            </p:cNvPr>
            <p:cNvSpPr/>
            <p:nvPr/>
          </p:nvSpPr>
          <p:spPr>
            <a:xfrm>
              <a:off x="8264965" y="6741668"/>
              <a:ext cx="1336235" cy="649732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E7C6595D-2C4B-A06E-B2E8-35A1A39961CD}"/>
                </a:ext>
              </a:extLst>
            </p:cNvPr>
            <p:cNvCxnSpPr/>
            <p:nvPr/>
          </p:nvCxnSpPr>
          <p:spPr>
            <a:xfrm>
              <a:off x="9601200" y="7086600"/>
              <a:ext cx="2590800" cy="0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연결선: 꺾임 18">
              <a:extLst>
                <a:ext uri="{FF2B5EF4-FFF2-40B4-BE49-F238E27FC236}">
                  <a16:creationId xmlns:a16="http://schemas.microsoft.com/office/drawing/2014/main" id="{1DF612FA-30E5-FDA6-A8B0-A33EAE32A1F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222122" y="7751679"/>
              <a:ext cx="1792734" cy="310177"/>
            </a:xfrm>
            <a:prstGeom prst="bentConnector3">
              <a:avLst>
                <a:gd name="adj1" fmla="val 99986"/>
              </a:avLst>
            </a:prstGeom>
            <a:ln w="762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20971E77-ABA3-2DAF-8CC0-C7B2560B2471}"/>
                </a:ext>
              </a:extLst>
            </p:cNvPr>
            <p:cNvCxnSpPr/>
            <p:nvPr/>
          </p:nvCxnSpPr>
          <p:spPr>
            <a:xfrm flipV="1">
              <a:off x="6553200" y="6248400"/>
              <a:ext cx="0" cy="3124200"/>
            </a:xfrm>
            <a:prstGeom prst="straightConnector1">
              <a:avLst/>
            </a:prstGeom>
            <a:ln w="762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C5BEF47-0C34-EE69-3903-98D26DC428A7}"/>
                </a:ext>
              </a:extLst>
            </p:cNvPr>
            <p:cNvCxnSpPr/>
            <p:nvPr/>
          </p:nvCxnSpPr>
          <p:spPr>
            <a:xfrm>
              <a:off x="6553200" y="9372600"/>
              <a:ext cx="1524000" cy="0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5EDACA-16A9-E81C-60D4-813D9C9A9D58}"/>
                </a:ext>
              </a:extLst>
            </p:cNvPr>
            <p:cNvSpPr txBox="1"/>
            <p:nvPr/>
          </p:nvSpPr>
          <p:spPr>
            <a:xfrm>
              <a:off x="14237208" y="8699212"/>
              <a:ext cx="7409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3200" dirty="0">
                  <a:solidFill>
                    <a:schemeClr val="accent6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rs1</a:t>
              </a:r>
              <a:endParaRPr lang="ko-KR" altLang="en-US" sz="3200" dirty="0">
                <a:solidFill>
                  <a:schemeClr val="accent6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49223B5D-1154-71C5-BF01-22C72DC3B198}"/>
                </a:ext>
              </a:extLst>
            </p:cNvPr>
            <p:cNvCxnSpPr/>
            <p:nvPr/>
          </p:nvCxnSpPr>
          <p:spPr>
            <a:xfrm flipH="1">
              <a:off x="13030200" y="8991600"/>
              <a:ext cx="1143000" cy="0"/>
            </a:xfrm>
            <a:prstGeom prst="straightConnector1">
              <a:avLst/>
            </a:prstGeom>
            <a:ln w="762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137916A6-1137-C91F-0E0F-1739D399B5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91556" y="2804322"/>
            <a:ext cx="11100828" cy="2316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3244573-EF10-61A1-4AAF-3A5393A19EA2}"/>
              </a:ext>
            </a:extLst>
          </p:cNvPr>
          <p:cNvSpPr txBox="1"/>
          <p:nvPr/>
        </p:nvSpPr>
        <p:spPr>
          <a:xfrm>
            <a:off x="12383217" y="2356487"/>
            <a:ext cx="8724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rgbClr val="090807"/>
                </a:solidFill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Compare Data &amp; Make Branch ( PC +=  Imm)</a:t>
            </a:r>
          </a:p>
        </p:txBody>
      </p:sp>
    </p:spTree>
    <p:extLst>
      <p:ext uri="{BB962C8B-B14F-4D97-AF65-F5344CB8AC3E}">
        <p14:creationId xmlns:p14="http://schemas.microsoft.com/office/powerpoint/2010/main" val="482584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18BC-3C77-9D84-3937-C42B3617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75B170F-67B5-4B66-9967-B012FF180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2D7729F-1968-21D3-EBCF-77FC4E79C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6047799-8F90-814D-5AD4-FFBC14683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5C469F1E-55B6-834A-3F9E-3111BB21B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1EE228E3-DD77-35D4-CA26-528F058A8255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FFC000"/>
                </a:solidFill>
                <a:latin typeface="Pretendard Bold"/>
                <a:ea typeface="Pretendard Bold"/>
                <a:cs typeface="Pretendard Bold"/>
              </a:rPr>
              <a:t>B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2743200"/>
            <a:ext cx="8661400" cy="8366544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097895"/>
              </p:ext>
            </p:extLst>
          </p:nvPr>
        </p:nvGraphicFramePr>
        <p:xfrm>
          <a:off x="12954000" y="2992793"/>
          <a:ext cx="9578549" cy="7959014"/>
        </p:xfrm>
        <a:graphic>
          <a:graphicData uri="http://schemas.openxmlformats.org/drawingml/2006/table">
            <a:tbl>
              <a:tblPr/>
              <a:tblGrid>
                <a:gridCol w="1566679">
                  <a:extLst>
                    <a:ext uri="{9D8B030D-6E8A-4147-A177-3AD203B41FA5}">
                      <a16:colId xmlns:a16="http://schemas.microsoft.com/office/drawing/2014/main" val="553132786"/>
                    </a:ext>
                  </a:extLst>
                </a:gridCol>
                <a:gridCol w="2304501">
                  <a:extLst>
                    <a:ext uri="{9D8B030D-6E8A-4147-A177-3AD203B41FA5}">
                      <a16:colId xmlns:a16="http://schemas.microsoft.com/office/drawing/2014/main" val="1016438650"/>
                    </a:ext>
                  </a:extLst>
                </a:gridCol>
                <a:gridCol w="2096539">
                  <a:extLst>
                    <a:ext uri="{9D8B030D-6E8A-4147-A177-3AD203B41FA5}">
                      <a16:colId xmlns:a16="http://schemas.microsoft.com/office/drawing/2014/main" val="3064479570"/>
                    </a:ext>
                  </a:extLst>
                </a:gridCol>
                <a:gridCol w="2044151">
                  <a:extLst>
                    <a:ext uri="{9D8B030D-6E8A-4147-A177-3AD203B41FA5}">
                      <a16:colId xmlns:a16="http://schemas.microsoft.com/office/drawing/2014/main" val="2399715828"/>
                    </a:ext>
                  </a:extLst>
                </a:gridCol>
                <a:gridCol w="1566679">
                  <a:extLst>
                    <a:ext uri="{9D8B030D-6E8A-4147-A177-3AD203B41FA5}">
                      <a16:colId xmlns:a16="http://schemas.microsoft.com/office/drawing/2014/main" val="1848988378"/>
                    </a:ext>
                  </a:extLst>
                </a:gridCol>
              </a:tblGrid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Instruction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Condition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Branch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Next PC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791933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beq x1,x1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==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40882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beq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==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584564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bne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!=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20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91292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20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bne x1,x1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!=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24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353263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24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blt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&lt;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928396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blt x2,x1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 &lt;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36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65725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36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bge x2,x1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 &gt;=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44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480814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44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bge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&gt;=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184536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bltu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&lt;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56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820067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56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bltu x2,x1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 &lt;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60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50682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60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bgeu x2,x1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 &gt;=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45429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bgeu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&gt;=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72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794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608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C8BD5-C9AC-94C4-0140-2BC8CF0F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F31337A-5AB1-5E65-CF21-7BBBA08D9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7DAAF802-B4EE-CFAF-48B9-E3BFBAB2A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A951B44-D35B-5A0B-1D2D-1C49BF471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54C67F8-6EDD-2592-D92D-B95EE13B9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712" y="12614073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B709922A-1378-123A-933A-0E4A24D84CEF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FFC000"/>
                </a:solidFill>
                <a:latin typeface="Pretendard Bold"/>
                <a:ea typeface="Pretendard Bold"/>
                <a:cs typeface="Pretendard Bold"/>
              </a:rPr>
              <a:t>B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637486"/>
            <a:ext cx="12880784" cy="4609099"/>
          </a:xfrm>
          <a:prstGeom prst="rect">
            <a:avLst/>
          </a:prstGeom>
        </p:spPr>
      </p:pic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072999"/>
              </p:ext>
            </p:extLst>
          </p:nvPr>
        </p:nvGraphicFramePr>
        <p:xfrm>
          <a:off x="14325600" y="2962529"/>
          <a:ext cx="9578549" cy="7959014"/>
        </p:xfrm>
        <a:graphic>
          <a:graphicData uri="http://schemas.openxmlformats.org/drawingml/2006/table">
            <a:tbl>
              <a:tblPr/>
              <a:tblGrid>
                <a:gridCol w="1566679">
                  <a:extLst>
                    <a:ext uri="{9D8B030D-6E8A-4147-A177-3AD203B41FA5}">
                      <a16:colId xmlns:a16="http://schemas.microsoft.com/office/drawing/2014/main" val="553132786"/>
                    </a:ext>
                  </a:extLst>
                </a:gridCol>
                <a:gridCol w="2304501">
                  <a:extLst>
                    <a:ext uri="{9D8B030D-6E8A-4147-A177-3AD203B41FA5}">
                      <a16:colId xmlns:a16="http://schemas.microsoft.com/office/drawing/2014/main" val="1016438650"/>
                    </a:ext>
                  </a:extLst>
                </a:gridCol>
                <a:gridCol w="2096539">
                  <a:extLst>
                    <a:ext uri="{9D8B030D-6E8A-4147-A177-3AD203B41FA5}">
                      <a16:colId xmlns:a16="http://schemas.microsoft.com/office/drawing/2014/main" val="3064479570"/>
                    </a:ext>
                  </a:extLst>
                </a:gridCol>
                <a:gridCol w="2044151">
                  <a:extLst>
                    <a:ext uri="{9D8B030D-6E8A-4147-A177-3AD203B41FA5}">
                      <a16:colId xmlns:a16="http://schemas.microsoft.com/office/drawing/2014/main" val="2399715828"/>
                    </a:ext>
                  </a:extLst>
                </a:gridCol>
                <a:gridCol w="1566679">
                  <a:extLst>
                    <a:ext uri="{9D8B030D-6E8A-4147-A177-3AD203B41FA5}">
                      <a16:colId xmlns:a16="http://schemas.microsoft.com/office/drawing/2014/main" val="1848988378"/>
                    </a:ext>
                  </a:extLst>
                </a:gridCol>
              </a:tblGrid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Instruction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Condition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Branch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Next PC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791933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beq x1,x1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==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40882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beq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==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584564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bne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!=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20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91292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20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bne x1,x1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!=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24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353263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24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blt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&lt;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928396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blt x2,x1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 &lt;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36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65725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36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bge x2,x1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 &gt;=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44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480814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44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bge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&gt;=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184536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bltu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&lt;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56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820067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56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bltu x2,x1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 &lt;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60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50682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60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bgeu x2,x1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 &gt;= 1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45429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68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bgeu x1,x2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 &gt;= 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not taken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72</a:t>
                      </a:r>
                    </a:p>
                  </a:txBody>
                  <a:tcPr marL="87038" marR="87038" marT="43519" marB="43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794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927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968F-1FBA-AE2C-3551-F3A62C99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35A1F7C-FCCB-EEA7-B076-AF54BE158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37B5E97-4EB1-AAE3-2F7C-BB49517C7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7147E9E-5609-7AAF-0E3C-FC82F3E7F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D5DA637-91DC-087D-5B3F-B9A9E5557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4FD6059F-A8CF-1CAD-C0A7-01967C93E4F3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B0F0"/>
                </a:solidFill>
                <a:latin typeface="Pretendard Bold"/>
                <a:ea typeface="Pretendard Bold"/>
                <a:cs typeface="Pretendard Bold"/>
              </a:rPr>
              <a:t>UL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354BCB-71C9-E074-B80E-782083E8E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51" y="1618488"/>
            <a:ext cx="11099697" cy="10479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B705278-5609-E6BD-8185-2AFC51B995BC}"/>
              </a:ext>
            </a:extLst>
          </p:cNvPr>
          <p:cNvSpPr/>
          <p:nvPr/>
        </p:nvSpPr>
        <p:spPr>
          <a:xfrm>
            <a:off x="8763000" y="4114800"/>
            <a:ext cx="1600200" cy="1676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9D7C08-4B82-FB58-02C2-7AE9B4980412}"/>
              </a:ext>
            </a:extLst>
          </p:cNvPr>
          <p:cNvSpPr/>
          <p:nvPr/>
        </p:nvSpPr>
        <p:spPr>
          <a:xfrm>
            <a:off x="5943600" y="3962400"/>
            <a:ext cx="1295400" cy="228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7D803C7-AD3E-803D-4680-85ECFBE828FE}"/>
              </a:ext>
            </a:extLst>
          </p:cNvPr>
          <p:cNvCxnSpPr/>
          <p:nvPr/>
        </p:nvCxnSpPr>
        <p:spPr>
          <a:xfrm>
            <a:off x="12344400" y="6477000"/>
            <a:ext cx="0" cy="68580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C47EEA9F-F7E8-88C4-5F3D-2397A9C8B8AB}"/>
              </a:ext>
            </a:extLst>
          </p:cNvPr>
          <p:cNvCxnSpPr>
            <a:cxnSpLocks/>
            <a:endCxn id="5" idx="2"/>
          </p:cNvCxnSpPr>
          <p:nvPr/>
        </p:nvCxnSpPr>
        <p:spPr>
          <a:xfrm rot="10800000">
            <a:off x="9563100" y="5791200"/>
            <a:ext cx="2781300" cy="685800"/>
          </a:xfrm>
          <a:prstGeom prst="bentConnector2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0AE0E6-E877-8785-6C6C-267F06260D29}"/>
              </a:ext>
            </a:extLst>
          </p:cNvPr>
          <p:cNvSpPr/>
          <p:nvPr/>
        </p:nvSpPr>
        <p:spPr>
          <a:xfrm>
            <a:off x="8305800" y="6705600"/>
            <a:ext cx="1257297" cy="6858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8758CC5-69C5-FB57-5A09-E74A46DAA3A6}"/>
              </a:ext>
            </a:extLst>
          </p:cNvPr>
          <p:cNvCxnSpPr>
            <a:cxnSpLocks/>
          </p:cNvCxnSpPr>
          <p:nvPr/>
        </p:nvCxnSpPr>
        <p:spPr>
          <a:xfrm>
            <a:off x="9563100" y="7086600"/>
            <a:ext cx="2705100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5749739-8E28-8ABE-5EAF-E8A535252F8D}"/>
              </a:ext>
            </a:extLst>
          </p:cNvPr>
          <p:cNvCxnSpPr>
            <a:cxnSpLocks/>
          </p:cNvCxnSpPr>
          <p:nvPr/>
        </p:nvCxnSpPr>
        <p:spPr>
          <a:xfrm>
            <a:off x="12268200" y="7086600"/>
            <a:ext cx="0" cy="114300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9A2B488-4F5A-3D4C-96B2-E29D6381CB37}"/>
              </a:ext>
            </a:extLst>
          </p:cNvPr>
          <p:cNvCxnSpPr/>
          <p:nvPr/>
        </p:nvCxnSpPr>
        <p:spPr>
          <a:xfrm>
            <a:off x="12268200" y="8229600"/>
            <a:ext cx="1371600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21950D3-BDDF-A9E6-7E90-C36B6AD8CFE6}"/>
              </a:ext>
            </a:extLst>
          </p:cNvPr>
          <p:cNvCxnSpPr/>
          <p:nvPr/>
        </p:nvCxnSpPr>
        <p:spPr>
          <a:xfrm flipV="1">
            <a:off x="13639800" y="7391400"/>
            <a:ext cx="0" cy="83820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C15DAA-6DEE-E89C-D230-71607D30A96D}"/>
              </a:ext>
            </a:extLst>
          </p:cNvPr>
          <p:cNvCxnSpPr/>
          <p:nvPr/>
        </p:nvCxnSpPr>
        <p:spPr>
          <a:xfrm flipH="1">
            <a:off x="12954000" y="7391400"/>
            <a:ext cx="6858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575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7E52-E4D0-C7CE-7762-48E8AF89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C795062-8680-BF57-BC3B-3C20D824A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642FF61-C4C8-3E76-B1A7-B4D4195CB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D07A1F5-6FC3-ECE3-0420-4C53235BB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9FA47183-2F1B-635F-D3AC-66450BBF3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3AC2136E-315D-0699-994D-0C81B8FB121A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B050"/>
                </a:solidFill>
                <a:latin typeface="Pretendard Bold"/>
                <a:ea typeface="Pretendard Bold"/>
                <a:cs typeface="Pretendard Bold"/>
              </a:rPr>
              <a:t>UA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A00E97-C282-144F-2EBD-51E8C5431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51" y="1618488"/>
            <a:ext cx="11099697" cy="10479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CB84B4F-C39D-C8BE-6071-DE3CDC8CBDA3}"/>
              </a:ext>
            </a:extLst>
          </p:cNvPr>
          <p:cNvSpPr/>
          <p:nvPr/>
        </p:nvSpPr>
        <p:spPr>
          <a:xfrm>
            <a:off x="8763000" y="4114800"/>
            <a:ext cx="1600200" cy="1676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F7FA01-D5DB-48F3-9BA3-6F8632AEC350}"/>
              </a:ext>
            </a:extLst>
          </p:cNvPr>
          <p:cNvSpPr/>
          <p:nvPr/>
        </p:nvSpPr>
        <p:spPr>
          <a:xfrm>
            <a:off x="5943600" y="3962400"/>
            <a:ext cx="1295400" cy="228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C3591F5-DC75-2F0F-8879-CB83887EC23F}"/>
              </a:ext>
            </a:extLst>
          </p:cNvPr>
          <p:cNvCxnSpPr/>
          <p:nvPr/>
        </p:nvCxnSpPr>
        <p:spPr>
          <a:xfrm>
            <a:off x="12344400" y="6477000"/>
            <a:ext cx="0" cy="6858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C554FB50-AFE5-86F5-65D1-3C8280DA306A}"/>
              </a:ext>
            </a:extLst>
          </p:cNvPr>
          <p:cNvCxnSpPr>
            <a:cxnSpLocks/>
            <a:endCxn id="5" idx="2"/>
          </p:cNvCxnSpPr>
          <p:nvPr/>
        </p:nvCxnSpPr>
        <p:spPr>
          <a:xfrm rot="10800000">
            <a:off x="9563100" y="5791200"/>
            <a:ext cx="2781300" cy="68580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8141E1-4915-F515-9072-AF7CA2F90985}"/>
              </a:ext>
            </a:extLst>
          </p:cNvPr>
          <p:cNvSpPr/>
          <p:nvPr/>
        </p:nvSpPr>
        <p:spPr>
          <a:xfrm>
            <a:off x="8305800" y="6705600"/>
            <a:ext cx="1257297" cy="6858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350D78D-BACD-63C3-3CAA-D38A86992454}"/>
              </a:ext>
            </a:extLst>
          </p:cNvPr>
          <p:cNvCxnSpPr>
            <a:cxnSpLocks/>
          </p:cNvCxnSpPr>
          <p:nvPr/>
        </p:nvCxnSpPr>
        <p:spPr>
          <a:xfrm flipH="1">
            <a:off x="12954000" y="7620000"/>
            <a:ext cx="304800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036AC81-FAEC-67FE-8EB2-70C998F5AE8C}"/>
              </a:ext>
            </a:extLst>
          </p:cNvPr>
          <p:cNvCxnSpPr>
            <a:cxnSpLocks/>
          </p:cNvCxnSpPr>
          <p:nvPr/>
        </p:nvCxnSpPr>
        <p:spPr>
          <a:xfrm flipV="1">
            <a:off x="13258800" y="7620000"/>
            <a:ext cx="0" cy="8382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992DD16-EB85-4FED-38A0-700A822F99C7}"/>
              </a:ext>
            </a:extLst>
          </p:cNvPr>
          <p:cNvCxnSpPr/>
          <p:nvPr/>
        </p:nvCxnSpPr>
        <p:spPr>
          <a:xfrm>
            <a:off x="6553200" y="9372600"/>
            <a:ext cx="1524000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3109109-90AA-DDD4-E680-EC6BD967D8A0}"/>
              </a:ext>
            </a:extLst>
          </p:cNvPr>
          <p:cNvCxnSpPr/>
          <p:nvPr/>
        </p:nvCxnSpPr>
        <p:spPr>
          <a:xfrm>
            <a:off x="6553200" y="9372600"/>
            <a:ext cx="0" cy="1143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0EA8565-7660-CF52-8212-385D730AB9AE}"/>
              </a:ext>
            </a:extLst>
          </p:cNvPr>
          <p:cNvCxnSpPr/>
          <p:nvPr/>
        </p:nvCxnSpPr>
        <p:spPr>
          <a:xfrm>
            <a:off x="6553200" y="10591800"/>
            <a:ext cx="6629400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2B39FFB-3CAB-BC9C-5004-707293900721}"/>
              </a:ext>
            </a:extLst>
          </p:cNvPr>
          <p:cNvCxnSpPr/>
          <p:nvPr/>
        </p:nvCxnSpPr>
        <p:spPr>
          <a:xfrm flipV="1">
            <a:off x="13182600" y="9372600"/>
            <a:ext cx="0" cy="12954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6B1B385-1B2B-EFF3-3466-BB2B3AB8D94A}"/>
              </a:ext>
            </a:extLst>
          </p:cNvPr>
          <p:cNvCxnSpPr/>
          <p:nvPr/>
        </p:nvCxnSpPr>
        <p:spPr>
          <a:xfrm flipH="1">
            <a:off x="12877800" y="9372600"/>
            <a:ext cx="304800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71B937E-E6B3-105E-B699-02F4D771F871}"/>
              </a:ext>
            </a:extLst>
          </p:cNvPr>
          <p:cNvCxnSpPr/>
          <p:nvPr/>
        </p:nvCxnSpPr>
        <p:spPr>
          <a:xfrm flipV="1">
            <a:off x="11430000" y="8305800"/>
            <a:ext cx="0" cy="6858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7E00A94-51CD-A866-F3EB-9DF24851D2A1}"/>
              </a:ext>
            </a:extLst>
          </p:cNvPr>
          <p:cNvCxnSpPr/>
          <p:nvPr/>
        </p:nvCxnSpPr>
        <p:spPr>
          <a:xfrm>
            <a:off x="11430000" y="8382000"/>
            <a:ext cx="1828800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2E8389B-CDBF-F03E-5436-3B2C8979F268}"/>
              </a:ext>
            </a:extLst>
          </p:cNvPr>
          <p:cNvCxnSpPr/>
          <p:nvPr/>
        </p:nvCxnSpPr>
        <p:spPr>
          <a:xfrm>
            <a:off x="9525000" y="7086600"/>
            <a:ext cx="278130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A992E00-781A-AB58-A3A2-B93E716F4265}"/>
              </a:ext>
            </a:extLst>
          </p:cNvPr>
          <p:cNvCxnSpPr>
            <a:cxnSpLocks/>
          </p:cNvCxnSpPr>
          <p:nvPr/>
        </p:nvCxnSpPr>
        <p:spPr>
          <a:xfrm>
            <a:off x="12306303" y="7086600"/>
            <a:ext cx="0" cy="1676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49A55F5-4183-2BA6-7198-776045FEAA4B}"/>
              </a:ext>
            </a:extLst>
          </p:cNvPr>
          <p:cNvCxnSpPr/>
          <p:nvPr/>
        </p:nvCxnSpPr>
        <p:spPr>
          <a:xfrm flipH="1">
            <a:off x="11963400" y="8763000"/>
            <a:ext cx="381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475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DF06-AB17-77DC-9CAC-F7980B84A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38C0E7D-E5AA-2EE8-CFF8-CF41F6F93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2003CF9-99F7-81D5-E8F6-189BFC3E7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31DAD34-AE33-D930-47EA-379E4C4BC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FF0B09F-98A7-B626-5388-E94C0D373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AF1788A8-7BE6-4928-69A8-8290126ADBB6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별 설명</a:t>
            </a:r>
            <a:r>
              <a:rPr lang="en-US" altLang="ko-KR" sz="6666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(</a:t>
            </a:r>
            <a:r>
              <a:rPr lang="en-US" altLang="ko-KR" sz="6666" dirty="0">
                <a:solidFill>
                  <a:srgbClr val="00B0F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UL</a:t>
            </a:r>
            <a:r>
              <a:rPr lang="en-US" altLang="ko-KR" sz="6666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-TYPE &amp; </a:t>
            </a:r>
            <a:r>
              <a:rPr lang="en-US" altLang="ko-KR" sz="6666" dirty="0">
                <a:solidFill>
                  <a:srgbClr val="00B05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UA</a:t>
            </a:r>
            <a:r>
              <a:rPr lang="en-US" altLang="ko-KR" sz="6666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SemiBold" panose="020B0600000101010101" charset="-127"/>
              <a:ea typeface="Pretendard SemiBold" panose="020B0600000101010101" charset="-127"/>
              <a:cs typeface="Pretendard Bold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940125D-3B39-8E95-FE15-46D6DEE3D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707317"/>
              </p:ext>
            </p:extLst>
          </p:nvPr>
        </p:nvGraphicFramePr>
        <p:xfrm>
          <a:off x="11367516" y="3454401"/>
          <a:ext cx="12252070" cy="3403599"/>
        </p:xfrm>
        <a:graphic>
          <a:graphicData uri="http://schemas.openxmlformats.org/drawingml/2006/table">
            <a:tbl>
              <a:tblPr/>
              <a:tblGrid>
                <a:gridCol w="743865">
                  <a:extLst>
                    <a:ext uri="{9D8B030D-6E8A-4147-A177-3AD203B41FA5}">
                      <a16:colId xmlns:a16="http://schemas.microsoft.com/office/drawing/2014/main" val="2575694935"/>
                    </a:ext>
                  </a:extLst>
                </a:gridCol>
                <a:gridCol w="3070542">
                  <a:extLst>
                    <a:ext uri="{9D8B030D-6E8A-4147-A177-3AD203B41FA5}">
                      <a16:colId xmlns:a16="http://schemas.microsoft.com/office/drawing/2014/main" val="1394071801"/>
                    </a:ext>
                  </a:extLst>
                </a:gridCol>
                <a:gridCol w="1779408">
                  <a:extLst>
                    <a:ext uri="{9D8B030D-6E8A-4147-A177-3AD203B41FA5}">
                      <a16:colId xmlns:a16="http://schemas.microsoft.com/office/drawing/2014/main" val="1701299665"/>
                    </a:ext>
                  </a:extLst>
                </a:gridCol>
                <a:gridCol w="3315464">
                  <a:extLst>
                    <a:ext uri="{9D8B030D-6E8A-4147-A177-3AD203B41FA5}">
                      <a16:colId xmlns:a16="http://schemas.microsoft.com/office/drawing/2014/main" val="3936220149"/>
                    </a:ext>
                  </a:extLst>
                </a:gridCol>
                <a:gridCol w="3342791">
                  <a:extLst>
                    <a:ext uri="{9D8B030D-6E8A-4147-A177-3AD203B41FA5}">
                      <a16:colId xmlns:a16="http://schemas.microsoft.com/office/drawing/2014/main" val="703794058"/>
                    </a:ext>
                  </a:extLst>
                </a:gridCol>
              </a:tblGrid>
              <a:tr h="1134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Instr</a:t>
                      </a:r>
                      <a:endParaRPr lang="en-US" sz="3200" dirty="0"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752830"/>
                  </a:ext>
                </a:extLst>
              </a:tr>
              <a:tr h="1134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lui</a:t>
                      </a: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x5,0x12345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x5 = 0x12345000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x5 = 0x12345000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406723"/>
                  </a:ext>
                </a:extLst>
              </a:tr>
              <a:tr h="1134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auipc x6,0x1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AUIPC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x6 = PC + 0x1000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x6 = 0x00001004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574564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3095C354-95C0-4D04-9BAF-192C37676E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4357099"/>
            <a:ext cx="9676384" cy="15982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4E49A4A-8F18-0BFB-28B5-248F7C2D02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623" y="9503378"/>
            <a:ext cx="10770277" cy="22471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ABF9C2-37DF-7E65-B07D-17F36EF7F954}"/>
              </a:ext>
            </a:extLst>
          </p:cNvPr>
          <p:cNvSpPr txBox="1"/>
          <p:nvPr/>
        </p:nvSpPr>
        <p:spPr>
          <a:xfrm>
            <a:off x="2613107" y="8942987"/>
            <a:ext cx="67873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rgbClr val="090807"/>
                </a:solidFill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Address Shift / Jump  (</a:t>
            </a:r>
            <a:r>
              <a:rPr lang="en-US" altLang="ko-KR" sz="3200" b="1" dirty="0" err="1">
                <a:solidFill>
                  <a:srgbClr val="090807"/>
                </a:solidFill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imm</a:t>
            </a:r>
            <a:r>
              <a:rPr lang="en-US" altLang="ko-KR" sz="3200" b="1" dirty="0">
                <a:solidFill>
                  <a:srgbClr val="090807"/>
                </a:solidFill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 &lt;&lt; 12)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E083F76-A9FA-48E0-2AAD-A491F1BEB3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87663" y="9460788"/>
            <a:ext cx="11011773" cy="23111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BFE490-66F6-23A9-EB66-269DB1F09807}"/>
              </a:ext>
            </a:extLst>
          </p:cNvPr>
          <p:cNvSpPr txBox="1"/>
          <p:nvPr/>
        </p:nvSpPr>
        <p:spPr>
          <a:xfrm>
            <a:off x="13523617" y="9022563"/>
            <a:ext cx="7939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rgbClr val="090807"/>
                </a:solidFill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Address Shift / Jump   PC + (</a:t>
            </a:r>
            <a:r>
              <a:rPr lang="en-US" altLang="ko-KR" sz="3200" b="1" dirty="0" err="1">
                <a:solidFill>
                  <a:srgbClr val="090807"/>
                </a:solidFill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imm</a:t>
            </a:r>
            <a:r>
              <a:rPr lang="en-US" altLang="ko-KR" sz="3200" b="1" dirty="0">
                <a:solidFill>
                  <a:srgbClr val="090807"/>
                </a:solidFill>
                <a:latin typeface="Pretendard SemiBold" panose="020B0600000101010101" charset="-127"/>
                <a:ea typeface="Pretendard SemiBold" panose="020B0600000101010101" charset="-127"/>
                <a:cs typeface="Source Han Sans KR Bold"/>
                <a:sym typeface="Source Han Sans KR Bold"/>
              </a:rPr>
              <a:t> &lt;&lt; 12)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72467E-6F7D-C96A-9A1A-BC6E3AC766BA}"/>
              </a:ext>
            </a:extLst>
          </p:cNvPr>
          <p:cNvSpPr txBox="1"/>
          <p:nvPr/>
        </p:nvSpPr>
        <p:spPr>
          <a:xfrm>
            <a:off x="5605047" y="8498200"/>
            <a:ext cx="803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LUI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BB6842-DD01-A9D6-2C25-7A9424EA6AA3}"/>
              </a:ext>
            </a:extLst>
          </p:cNvPr>
          <p:cNvSpPr txBox="1"/>
          <p:nvPr/>
        </p:nvSpPr>
        <p:spPr>
          <a:xfrm>
            <a:off x="16787266" y="8610600"/>
            <a:ext cx="1412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AUIPC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8635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701F2-F274-9CB4-C36C-7B7159846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80972DB-751D-95B1-5F95-49070346A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7E7567A-AD47-0D6C-B2EA-91EAAFF96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5A63084-6FC3-02E6-3177-BAC5577C3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DC4646A-3A8A-6BD5-E124-588BC69B88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D6E6E9F0-CCCE-4E50-136D-603CE485D69F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B0F0"/>
                </a:solidFill>
                <a:latin typeface="Pretendard Bold"/>
                <a:ea typeface="Pretendard Bold"/>
                <a:cs typeface="Pretendard Bold"/>
              </a:rPr>
              <a:t>UL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 &amp; </a:t>
            </a:r>
            <a:r>
              <a:rPr lang="en-US" altLang="ko-KR" sz="6666" dirty="0">
                <a:solidFill>
                  <a:srgbClr val="00B050"/>
                </a:solidFill>
                <a:latin typeface="Pretendard Bold"/>
                <a:ea typeface="Pretendard Bold"/>
                <a:cs typeface="Pretendard Bold"/>
              </a:rPr>
              <a:t>UA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C236B2-353C-37ED-DAB0-D89C82363F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2091397"/>
            <a:ext cx="18440400" cy="6318582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A42FEB-25AE-D1E0-B990-577B1C74F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74458"/>
              </p:ext>
            </p:extLst>
          </p:nvPr>
        </p:nvGraphicFramePr>
        <p:xfrm>
          <a:off x="6065965" y="8840490"/>
          <a:ext cx="12252070" cy="3403599"/>
        </p:xfrm>
        <a:graphic>
          <a:graphicData uri="http://schemas.openxmlformats.org/drawingml/2006/table">
            <a:tbl>
              <a:tblPr/>
              <a:tblGrid>
                <a:gridCol w="743865">
                  <a:extLst>
                    <a:ext uri="{9D8B030D-6E8A-4147-A177-3AD203B41FA5}">
                      <a16:colId xmlns:a16="http://schemas.microsoft.com/office/drawing/2014/main" val="2575694935"/>
                    </a:ext>
                  </a:extLst>
                </a:gridCol>
                <a:gridCol w="3070542">
                  <a:extLst>
                    <a:ext uri="{9D8B030D-6E8A-4147-A177-3AD203B41FA5}">
                      <a16:colId xmlns:a16="http://schemas.microsoft.com/office/drawing/2014/main" val="1394071801"/>
                    </a:ext>
                  </a:extLst>
                </a:gridCol>
                <a:gridCol w="1779408">
                  <a:extLst>
                    <a:ext uri="{9D8B030D-6E8A-4147-A177-3AD203B41FA5}">
                      <a16:colId xmlns:a16="http://schemas.microsoft.com/office/drawing/2014/main" val="1701299665"/>
                    </a:ext>
                  </a:extLst>
                </a:gridCol>
                <a:gridCol w="3315464">
                  <a:extLst>
                    <a:ext uri="{9D8B030D-6E8A-4147-A177-3AD203B41FA5}">
                      <a16:colId xmlns:a16="http://schemas.microsoft.com/office/drawing/2014/main" val="3936220149"/>
                    </a:ext>
                  </a:extLst>
                </a:gridCol>
                <a:gridCol w="3342791">
                  <a:extLst>
                    <a:ext uri="{9D8B030D-6E8A-4147-A177-3AD203B41FA5}">
                      <a16:colId xmlns:a16="http://schemas.microsoft.com/office/drawing/2014/main" val="703794058"/>
                    </a:ext>
                  </a:extLst>
                </a:gridCol>
              </a:tblGrid>
              <a:tr h="1134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Instr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752830"/>
                  </a:ext>
                </a:extLst>
              </a:tr>
              <a:tr h="1134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lui</a:t>
                      </a: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x5,0x12345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LUI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x5 = 0x12345000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x5 = 0x12345000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406723"/>
                  </a:ext>
                </a:extLst>
              </a:tr>
              <a:tr h="1134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auipc x6,0x1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AUIPC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x6 = PC + 0x1000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x6 = 0x00001004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574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435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26C37-60BD-04F9-F47A-B4F9A6B5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9791049-0973-F601-A9AF-DCAEAE32D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F8C29CD-15BE-4661-2235-FBB9E6F45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5E16A17-7383-60DD-8E8C-E5D7EE64C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E0BB792-6345-2435-3D5B-2A41421C7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618CA4B5-9D58-D1A9-99F8-83584DE59B88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7030A0"/>
                </a:solidFill>
                <a:latin typeface="Pretendard Bold"/>
                <a:ea typeface="Pretendard Bold"/>
                <a:cs typeface="Pretendard Bold"/>
              </a:rPr>
              <a:t>J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671662-514E-71F1-B43C-A3CAF1868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51" y="1618488"/>
            <a:ext cx="11099697" cy="10479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57A05ED-994A-32E1-F0AC-F1E816368F85}"/>
              </a:ext>
            </a:extLst>
          </p:cNvPr>
          <p:cNvSpPr/>
          <p:nvPr/>
        </p:nvSpPr>
        <p:spPr>
          <a:xfrm>
            <a:off x="8763000" y="4114800"/>
            <a:ext cx="1600200" cy="1676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5D8D7E-AAB0-BD24-F211-6E16A5A74D8D}"/>
              </a:ext>
            </a:extLst>
          </p:cNvPr>
          <p:cNvSpPr/>
          <p:nvPr/>
        </p:nvSpPr>
        <p:spPr>
          <a:xfrm>
            <a:off x="5943600" y="3962400"/>
            <a:ext cx="1295400" cy="228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DD65618-28FE-2688-B036-DA8B365F7F5C}"/>
              </a:ext>
            </a:extLst>
          </p:cNvPr>
          <p:cNvCxnSpPr/>
          <p:nvPr/>
        </p:nvCxnSpPr>
        <p:spPr>
          <a:xfrm>
            <a:off x="12344400" y="6477000"/>
            <a:ext cx="0" cy="68580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CC949BEB-32C3-E4E0-26C8-007F016923AE}"/>
              </a:ext>
            </a:extLst>
          </p:cNvPr>
          <p:cNvCxnSpPr>
            <a:cxnSpLocks/>
            <a:endCxn id="4" idx="2"/>
          </p:cNvCxnSpPr>
          <p:nvPr/>
        </p:nvCxnSpPr>
        <p:spPr>
          <a:xfrm rot="10800000">
            <a:off x="9563100" y="5791200"/>
            <a:ext cx="2781300" cy="685800"/>
          </a:xfrm>
          <a:prstGeom prst="bentConnector2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F35035-CB56-406F-CFB9-A09DD90712C8}"/>
              </a:ext>
            </a:extLst>
          </p:cNvPr>
          <p:cNvSpPr/>
          <p:nvPr/>
        </p:nvSpPr>
        <p:spPr>
          <a:xfrm>
            <a:off x="8305800" y="6705600"/>
            <a:ext cx="1257297" cy="685800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D1B307E-A1E3-0700-351E-5412BC562A6D}"/>
              </a:ext>
            </a:extLst>
          </p:cNvPr>
          <p:cNvCxnSpPr/>
          <p:nvPr/>
        </p:nvCxnSpPr>
        <p:spPr>
          <a:xfrm>
            <a:off x="6553200" y="9372600"/>
            <a:ext cx="1524000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F864630-E810-601E-C362-8A78B7BB6110}"/>
              </a:ext>
            </a:extLst>
          </p:cNvPr>
          <p:cNvCxnSpPr/>
          <p:nvPr/>
        </p:nvCxnSpPr>
        <p:spPr>
          <a:xfrm>
            <a:off x="6553200" y="9372600"/>
            <a:ext cx="0" cy="114300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5C60AED-B25F-5BC7-4D30-72F0F1050EF4}"/>
              </a:ext>
            </a:extLst>
          </p:cNvPr>
          <p:cNvCxnSpPr/>
          <p:nvPr/>
        </p:nvCxnSpPr>
        <p:spPr>
          <a:xfrm>
            <a:off x="6553200" y="10591800"/>
            <a:ext cx="6629400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C77A886-4FF4-C168-8538-C266AE0E46C8}"/>
              </a:ext>
            </a:extLst>
          </p:cNvPr>
          <p:cNvCxnSpPr/>
          <p:nvPr/>
        </p:nvCxnSpPr>
        <p:spPr>
          <a:xfrm flipV="1">
            <a:off x="13182600" y="9372600"/>
            <a:ext cx="0" cy="129540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32E3D1B-F545-99BE-D956-F120B88062E8}"/>
              </a:ext>
            </a:extLst>
          </p:cNvPr>
          <p:cNvCxnSpPr/>
          <p:nvPr/>
        </p:nvCxnSpPr>
        <p:spPr>
          <a:xfrm flipH="1">
            <a:off x="12877800" y="9372600"/>
            <a:ext cx="304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F6E61D7-36E5-6399-AFC6-62E6A03093AB}"/>
              </a:ext>
            </a:extLst>
          </p:cNvPr>
          <p:cNvCxnSpPr/>
          <p:nvPr/>
        </p:nvCxnSpPr>
        <p:spPr>
          <a:xfrm>
            <a:off x="9525000" y="7086600"/>
            <a:ext cx="278130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79AA939-26E0-1CEC-3317-AABAC45ED460}"/>
              </a:ext>
            </a:extLst>
          </p:cNvPr>
          <p:cNvCxnSpPr>
            <a:cxnSpLocks/>
          </p:cNvCxnSpPr>
          <p:nvPr/>
        </p:nvCxnSpPr>
        <p:spPr>
          <a:xfrm>
            <a:off x="12306303" y="7086600"/>
            <a:ext cx="0" cy="1676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D7D8280-D0D6-C834-DC6B-EFF856F802D2}"/>
              </a:ext>
            </a:extLst>
          </p:cNvPr>
          <p:cNvCxnSpPr/>
          <p:nvPr/>
        </p:nvCxnSpPr>
        <p:spPr>
          <a:xfrm flipH="1">
            <a:off x="11963400" y="8763000"/>
            <a:ext cx="381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6BC585-F216-2647-F79F-CEEA8B6B5872}"/>
              </a:ext>
            </a:extLst>
          </p:cNvPr>
          <p:cNvSpPr/>
          <p:nvPr/>
        </p:nvSpPr>
        <p:spPr>
          <a:xfrm>
            <a:off x="10972800" y="10668000"/>
            <a:ext cx="2743197" cy="1142999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530EABF-5073-49D7-F822-1CBE32AD24C1}"/>
              </a:ext>
            </a:extLst>
          </p:cNvPr>
          <p:cNvCxnSpPr>
            <a:cxnSpLocks/>
          </p:cNvCxnSpPr>
          <p:nvPr/>
        </p:nvCxnSpPr>
        <p:spPr>
          <a:xfrm>
            <a:off x="11430000" y="9677400"/>
            <a:ext cx="0" cy="60960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CB56E8B-42DC-89ED-B1D2-78CA1F318206}"/>
              </a:ext>
            </a:extLst>
          </p:cNvPr>
          <p:cNvCxnSpPr/>
          <p:nvPr/>
        </p:nvCxnSpPr>
        <p:spPr>
          <a:xfrm>
            <a:off x="11430000" y="10287000"/>
            <a:ext cx="1981200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26A504D-4F30-8BE1-8914-7F77BFEE98C9}"/>
              </a:ext>
            </a:extLst>
          </p:cNvPr>
          <p:cNvCxnSpPr/>
          <p:nvPr/>
        </p:nvCxnSpPr>
        <p:spPr>
          <a:xfrm flipV="1">
            <a:off x="13411200" y="7924800"/>
            <a:ext cx="0" cy="236220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4C03553-ED7D-C4AF-C546-018350AA7C3A}"/>
              </a:ext>
            </a:extLst>
          </p:cNvPr>
          <p:cNvCxnSpPr/>
          <p:nvPr/>
        </p:nvCxnSpPr>
        <p:spPr>
          <a:xfrm flipH="1">
            <a:off x="13030200" y="7924800"/>
            <a:ext cx="381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0B16801-8136-4A06-4F97-DAF978ECA5C8}"/>
              </a:ext>
            </a:extLst>
          </p:cNvPr>
          <p:cNvSpPr/>
          <p:nvPr/>
        </p:nvSpPr>
        <p:spPr>
          <a:xfrm>
            <a:off x="8077200" y="8763000"/>
            <a:ext cx="2209797" cy="1142992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2101C4-3B5C-4E1F-FD73-27AD4DAD2B09}"/>
              </a:ext>
            </a:extLst>
          </p:cNvPr>
          <p:cNvSpPr txBox="1"/>
          <p:nvPr/>
        </p:nvSpPr>
        <p:spPr>
          <a:xfrm>
            <a:off x="14597048" y="10718230"/>
            <a:ext cx="231826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err="1">
                <a:solidFill>
                  <a:srgbClr val="7030A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rd</a:t>
            </a:r>
            <a:r>
              <a:rPr lang="en-US" altLang="ko-KR" sz="3200" dirty="0">
                <a:solidFill>
                  <a:srgbClr val="7030A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PC + 4</a:t>
            </a:r>
          </a:p>
          <a:p>
            <a:pPr algn="l"/>
            <a:r>
              <a:rPr lang="en-US" altLang="ko-KR" sz="3200" dirty="0">
                <a:solidFill>
                  <a:srgbClr val="7030A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PC += </a:t>
            </a:r>
            <a:r>
              <a:rPr lang="en-US" altLang="ko-KR" sz="3200" dirty="0" err="1">
                <a:solidFill>
                  <a:srgbClr val="7030A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imm</a:t>
            </a:r>
            <a:endParaRPr lang="en-US" altLang="ko-KR" sz="3200" dirty="0">
              <a:solidFill>
                <a:srgbClr val="7030A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9884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F7148-6FDB-F120-FA5F-9B54C77C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159D497-0237-0A81-7385-053D4D946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2CFBDB2-B7AA-C371-07F5-7C2BE4322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E50E8E7-F5EC-FD0D-7884-3522E429D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BF47F83-6384-AF55-6A9F-BD234677F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517AD3F1-A182-2BFE-7536-8FFA6A222F33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7030A0"/>
                </a:solidFill>
                <a:latin typeface="Pretendard Bold"/>
                <a:ea typeface="Pretendard Bold"/>
                <a:cs typeface="Pretendard Bold"/>
              </a:rPr>
              <a:t>J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77F53C-B3DC-C701-1760-B3058BD968C7}"/>
              </a:ext>
            </a:extLst>
          </p:cNvPr>
          <p:cNvSpPr txBox="1"/>
          <p:nvPr/>
        </p:nvSpPr>
        <p:spPr>
          <a:xfrm>
            <a:off x="22771200" y="6308664"/>
            <a:ext cx="7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8A30E34-11FC-2652-A483-7ABABC730474}"/>
              </a:ext>
            </a:extLst>
          </p:cNvPr>
          <p:cNvGrpSpPr/>
          <p:nvPr/>
        </p:nvGrpSpPr>
        <p:grpSpPr>
          <a:xfrm>
            <a:off x="838200" y="1618488"/>
            <a:ext cx="11099697" cy="10479024"/>
            <a:chOff x="5842051" y="1618488"/>
            <a:chExt cx="11099697" cy="1047902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D62EB7C-F1AC-D959-F47D-A42098BB3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2051" y="1618488"/>
              <a:ext cx="11099697" cy="10479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FD1D42C-B027-D090-3596-547512D30314}"/>
                </a:ext>
              </a:extLst>
            </p:cNvPr>
            <p:cNvSpPr/>
            <p:nvPr/>
          </p:nvSpPr>
          <p:spPr>
            <a:xfrm>
              <a:off x="8763000" y="4114800"/>
              <a:ext cx="1600200" cy="1676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D0099D0-62F1-E61B-C933-A686992D9566}"/>
                </a:ext>
              </a:extLst>
            </p:cNvPr>
            <p:cNvSpPr/>
            <p:nvPr/>
          </p:nvSpPr>
          <p:spPr>
            <a:xfrm>
              <a:off x="5943600" y="3962400"/>
              <a:ext cx="1295400" cy="2286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385F0718-21E0-B9C4-97E5-07CF8D0561C6}"/>
                </a:ext>
              </a:extLst>
            </p:cNvPr>
            <p:cNvCxnSpPr/>
            <p:nvPr/>
          </p:nvCxnSpPr>
          <p:spPr>
            <a:xfrm>
              <a:off x="12344400" y="6477000"/>
              <a:ext cx="0" cy="68580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73E89279-38D1-517F-E95D-ABE496E066D9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 rot="10800000">
              <a:off x="9563100" y="5791200"/>
              <a:ext cx="2781300" cy="685800"/>
            </a:xfrm>
            <a:prstGeom prst="bentConnector2">
              <a:avLst/>
            </a:prstGeom>
            <a:ln w="762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E1D76F5-8A0C-4E2C-6481-762DF3F49F34}"/>
                </a:ext>
              </a:extLst>
            </p:cNvPr>
            <p:cNvSpPr/>
            <p:nvPr/>
          </p:nvSpPr>
          <p:spPr>
            <a:xfrm>
              <a:off x="8305800" y="6705600"/>
              <a:ext cx="1257297" cy="685800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08E1FBB1-4681-B3DD-DAE1-ABD31412B2FF}"/>
                </a:ext>
              </a:extLst>
            </p:cNvPr>
            <p:cNvCxnSpPr/>
            <p:nvPr/>
          </p:nvCxnSpPr>
          <p:spPr>
            <a:xfrm>
              <a:off x="6553200" y="9372600"/>
              <a:ext cx="1524000" cy="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741CBD8-8325-83B9-A435-794DCD92FD69}"/>
                </a:ext>
              </a:extLst>
            </p:cNvPr>
            <p:cNvCxnSpPr/>
            <p:nvPr/>
          </p:nvCxnSpPr>
          <p:spPr>
            <a:xfrm>
              <a:off x="6553200" y="9372600"/>
              <a:ext cx="0" cy="114300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E788A66-55A6-058E-0D06-990024DAE24F}"/>
                </a:ext>
              </a:extLst>
            </p:cNvPr>
            <p:cNvCxnSpPr/>
            <p:nvPr/>
          </p:nvCxnSpPr>
          <p:spPr>
            <a:xfrm>
              <a:off x="6553200" y="10591800"/>
              <a:ext cx="6629400" cy="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C041F80-0B74-92CF-E680-A3EE8AC81F30}"/>
                </a:ext>
              </a:extLst>
            </p:cNvPr>
            <p:cNvCxnSpPr/>
            <p:nvPr/>
          </p:nvCxnSpPr>
          <p:spPr>
            <a:xfrm flipV="1">
              <a:off x="13182600" y="9372600"/>
              <a:ext cx="0" cy="129540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1CDDB550-40B0-08D5-66B4-382900C319AE}"/>
                </a:ext>
              </a:extLst>
            </p:cNvPr>
            <p:cNvCxnSpPr/>
            <p:nvPr/>
          </p:nvCxnSpPr>
          <p:spPr>
            <a:xfrm flipH="1">
              <a:off x="12877800" y="9372600"/>
              <a:ext cx="304800" cy="0"/>
            </a:xfrm>
            <a:prstGeom prst="straightConnector1">
              <a:avLst/>
            </a:prstGeom>
            <a:ln w="762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AD6341A7-A223-2106-08D5-3AF6459EA0C8}"/>
                </a:ext>
              </a:extLst>
            </p:cNvPr>
            <p:cNvCxnSpPr/>
            <p:nvPr/>
          </p:nvCxnSpPr>
          <p:spPr>
            <a:xfrm>
              <a:off x="9525000" y="7086600"/>
              <a:ext cx="2781303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3D04C991-6947-C260-9BC8-DA92EA253C68}"/>
                </a:ext>
              </a:extLst>
            </p:cNvPr>
            <p:cNvCxnSpPr>
              <a:cxnSpLocks/>
            </p:cNvCxnSpPr>
            <p:nvPr/>
          </p:nvCxnSpPr>
          <p:spPr>
            <a:xfrm>
              <a:off x="12306303" y="7086600"/>
              <a:ext cx="0" cy="16764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C5625ED7-0259-5C37-B1A6-5A865921ED91}"/>
                </a:ext>
              </a:extLst>
            </p:cNvPr>
            <p:cNvCxnSpPr/>
            <p:nvPr/>
          </p:nvCxnSpPr>
          <p:spPr>
            <a:xfrm flipH="1">
              <a:off x="11963400" y="8763000"/>
              <a:ext cx="381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0163411-53C0-5D0D-E702-0C09B8DCACF5}"/>
                </a:ext>
              </a:extLst>
            </p:cNvPr>
            <p:cNvSpPr/>
            <p:nvPr/>
          </p:nvSpPr>
          <p:spPr>
            <a:xfrm>
              <a:off x="10972800" y="10668000"/>
              <a:ext cx="2743197" cy="1142999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DB81537D-4F36-C9B2-A776-995E3C0C8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430000" y="9677400"/>
              <a:ext cx="0" cy="60960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FCC17D74-5DE2-268A-7397-381165E1563D}"/>
                </a:ext>
              </a:extLst>
            </p:cNvPr>
            <p:cNvCxnSpPr/>
            <p:nvPr/>
          </p:nvCxnSpPr>
          <p:spPr>
            <a:xfrm>
              <a:off x="11430000" y="10287000"/>
              <a:ext cx="1981200" cy="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47428789-B662-3DD6-1725-618155B25C80}"/>
                </a:ext>
              </a:extLst>
            </p:cNvPr>
            <p:cNvCxnSpPr/>
            <p:nvPr/>
          </p:nvCxnSpPr>
          <p:spPr>
            <a:xfrm flipV="1">
              <a:off x="13411200" y="7924800"/>
              <a:ext cx="0" cy="2362200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F3CE059A-CA1A-CBBB-00F4-950A820C52B1}"/>
                </a:ext>
              </a:extLst>
            </p:cNvPr>
            <p:cNvCxnSpPr/>
            <p:nvPr/>
          </p:nvCxnSpPr>
          <p:spPr>
            <a:xfrm flipH="1">
              <a:off x="13030200" y="7924800"/>
              <a:ext cx="381000" cy="0"/>
            </a:xfrm>
            <a:prstGeom prst="straightConnector1">
              <a:avLst/>
            </a:prstGeom>
            <a:ln w="762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795809F-1490-3BC2-1CEA-ACD39A5389B1}"/>
                </a:ext>
              </a:extLst>
            </p:cNvPr>
            <p:cNvSpPr/>
            <p:nvPr/>
          </p:nvSpPr>
          <p:spPr>
            <a:xfrm>
              <a:off x="8077200" y="8763000"/>
              <a:ext cx="2209797" cy="1142992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8D90E8D-9E0A-50DE-14E5-C55087D4972B}"/>
                </a:ext>
              </a:extLst>
            </p:cNvPr>
            <p:cNvSpPr txBox="1"/>
            <p:nvPr/>
          </p:nvSpPr>
          <p:spPr>
            <a:xfrm>
              <a:off x="14597048" y="10718230"/>
              <a:ext cx="2318263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3200" dirty="0" err="1">
                  <a:solidFill>
                    <a:srgbClr val="7030A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rd</a:t>
              </a:r>
              <a:r>
                <a:rPr lang="en-US" altLang="ko-KR" sz="3200" dirty="0">
                  <a:solidFill>
                    <a:srgbClr val="7030A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= PC + 4</a:t>
              </a:r>
            </a:p>
            <a:p>
              <a:pPr algn="l"/>
              <a:r>
                <a:rPr lang="en-US" altLang="ko-KR" sz="3200" dirty="0">
                  <a:solidFill>
                    <a:srgbClr val="7030A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PC += </a:t>
              </a:r>
              <a:r>
                <a:rPr lang="en-US" altLang="ko-KR" sz="3200" dirty="0" err="1">
                  <a:solidFill>
                    <a:srgbClr val="7030A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imm</a:t>
              </a:r>
              <a:endParaRPr lang="en-US" altLang="ko-KR" sz="3200" dirty="0">
                <a:solidFill>
                  <a:srgbClr val="7030A0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8F218D90-C26F-2628-8B8F-F767D01D4DC7}"/>
              </a:ext>
            </a:extLst>
          </p:cNvPr>
          <p:cNvSpPr txBox="1"/>
          <p:nvPr/>
        </p:nvSpPr>
        <p:spPr>
          <a:xfrm>
            <a:off x="13729665" y="4780340"/>
            <a:ext cx="87719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Address Shift / Jump + Read (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인터럽트에 활용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)  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        RD = PC +4 ; 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        PC += </a:t>
            </a:r>
            <a:r>
              <a:rPr lang="en-US" altLang="ko-KR" sz="3200" dirty="0" err="1">
                <a:latin typeface="Pretendard SemiBold" panose="020B0600000101010101" charset="-127"/>
                <a:ea typeface="Pretendard SemiBold" panose="020B0600000101010101" charset="-127"/>
              </a:rPr>
              <a:t>imm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 ;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1F836D29-0F19-1C41-9925-EC34CCBC3B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0" y="6350000"/>
            <a:ext cx="11847285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9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4C442-022B-D43B-090C-0CCD2CED8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8B05F8F-C773-EBD5-E532-6854B2151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725EABD-D26D-3305-E92D-ED6B4B5F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0F8F6B4-33AE-5FFF-19B4-BF72D3FF4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F77145C1-7613-3FFC-78A4-3C061ED3FE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91A901C0-0029-54C8-7B39-31496F614A64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70C0"/>
                </a:solidFill>
                <a:latin typeface="Pretendard Bold"/>
                <a:ea typeface="Pretendard Bold"/>
                <a:cs typeface="Pretendard Bold"/>
              </a:rPr>
              <a:t>JL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62C740-F751-C247-5BD5-C4A7B89F13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51" y="1618488"/>
            <a:ext cx="11099697" cy="10479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D43BEF1-BD27-85A2-E46D-D12A72B20017}"/>
              </a:ext>
            </a:extLst>
          </p:cNvPr>
          <p:cNvSpPr/>
          <p:nvPr/>
        </p:nvSpPr>
        <p:spPr>
          <a:xfrm>
            <a:off x="8763000" y="4114800"/>
            <a:ext cx="1600200" cy="1676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FA70B4-B176-529A-EC0F-DBC98D4F0648}"/>
              </a:ext>
            </a:extLst>
          </p:cNvPr>
          <p:cNvSpPr/>
          <p:nvPr/>
        </p:nvSpPr>
        <p:spPr>
          <a:xfrm>
            <a:off x="5943600" y="3962400"/>
            <a:ext cx="1295400" cy="228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57C011C-7B86-FFC2-2BE6-C09B540EEF8C}"/>
              </a:ext>
            </a:extLst>
          </p:cNvPr>
          <p:cNvCxnSpPr/>
          <p:nvPr/>
        </p:nvCxnSpPr>
        <p:spPr>
          <a:xfrm>
            <a:off x="12344400" y="6477000"/>
            <a:ext cx="0" cy="6858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BFFE5692-B2C5-2EC4-E1C0-F3F944D56440}"/>
              </a:ext>
            </a:extLst>
          </p:cNvPr>
          <p:cNvCxnSpPr>
            <a:cxnSpLocks/>
            <a:endCxn id="4" idx="2"/>
          </p:cNvCxnSpPr>
          <p:nvPr/>
        </p:nvCxnSpPr>
        <p:spPr>
          <a:xfrm rot="10800000">
            <a:off x="9563100" y="5791200"/>
            <a:ext cx="2781300" cy="685800"/>
          </a:xfrm>
          <a:prstGeom prst="bentConnector2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30B9E7-AA0C-1E3E-1644-79B3EF63F511}"/>
              </a:ext>
            </a:extLst>
          </p:cNvPr>
          <p:cNvSpPr/>
          <p:nvPr/>
        </p:nvSpPr>
        <p:spPr>
          <a:xfrm>
            <a:off x="8305800" y="6705600"/>
            <a:ext cx="1257297" cy="68580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70C0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FB9EC03-0939-A4DD-DCF8-FBD19A53EB30}"/>
              </a:ext>
            </a:extLst>
          </p:cNvPr>
          <p:cNvCxnSpPr/>
          <p:nvPr/>
        </p:nvCxnSpPr>
        <p:spPr>
          <a:xfrm>
            <a:off x="6553200" y="9372600"/>
            <a:ext cx="152400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696E0C9-3294-0F77-710F-D60E1C268104}"/>
              </a:ext>
            </a:extLst>
          </p:cNvPr>
          <p:cNvCxnSpPr/>
          <p:nvPr/>
        </p:nvCxnSpPr>
        <p:spPr>
          <a:xfrm>
            <a:off x="6553200" y="9372600"/>
            <a:ext cx="0" cy="11430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7E196DA-EFD6-5ED7-98F2-6B2234344479}"/>
              </a:ext>
            </a:extLst>
          </p:cNvPr>
          <p:cNvCxnSpPr/>
          <p:nvPr/>
        </p:nvCxnSpPr>
        <p:spPr>
          <a:xfrm>
            <a:off x="6553200" y="10591800"/>
            <a:ext cx="662940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9BCE7D9-2198-277F-5982-2C368A81469B}"/>
              </a:ext>
            </a:extLst>
          </p:cNvPr>
          <p:cNvCxnSpPr/>
          <p:nvPr/>
        </p:nvCxnSpPr>
        <p:spPr>
          <a:xfrm flipV="1">
            <a:off x="13182600" y="9372600"/>
            <a:ext cx="0" cy="12954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7366400-21FC-D24B-8097-16660A030E3B}"/>
              </a:ext>
            </a:extLst>
          </p:cNvPr>
          <p:cNvCxnSpPr/>
          <p:nvPr/>
        </p:nvCxnSpPr>
        <p:spPr>
          <a:xfrm flipH="1">
            <a:off x="12877800" y="9372600"/>
            <a:ext cx="304800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2132EEB-9CAE-8AB9-D855-E353A4949EB3}"/>
              </a:ext>
            </a:extLst>
          </p:cNvPr>
          <p:cNvCxnSpPr/>
          <p:nvPr/>
        </p:nvCxnSpPr>
        <p:spPr>
          <a:xfrm>
            <a:off x="9525000" y="7086600"/>
            <a:ext cx="278130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E482472-2E22-36A6-1436-711B7EDEAC34}"/>
              </a:ext>
            </a:extLst>
          </p:cNvPr>
          <p:cNvCxnSpPr>
            <a:cxnSpLocks/>
          </p:cNvCxnSpPr>
          <p:nvPr/>
        </p:nvCxnSpPr>
        <p:spPr>
          <a:xfrm>
            <a:off x="12306303" y="7086600"/>
            <a:ext cx="0" cy="1676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1BEA8BA-4089-DD42-941A-8F52A0F33C34}"/>
              </a:ext>
            </a:extLst>
          </p:cNvPr>
          <p:cNvCxnSpPr/>
          <p:nvPr/>
        </p:nvCxnSpPr>
        <p:spPr>
          <a:xfrm flipH="1">
            <a:off x="11963400" y="8763000"/>
            <a:ext cx="381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CA3F4A2-B4F5-BFEF-C461-3C74FBE2E936}"/>
              </a:ext>
            </a:extLst>
          </p:cNvPr>
          <p:cNvSpPr/>
          <p:nvPr/>
        </p:nvSpPr>
        <p:spPr>
          <a:xfrm>
            <a:off x="10972800" y="10668000"/>
            <a:ext cx="2743197" cy="1142999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895ACC2-15A7-0628-40BA-A6FBA710BAF7}"/>
              </a:ext>
            </a:extLst>
          </p:cNvPr>
          <p:cNvCxnSpPr>
            <a:cxnSpLocks/>
          </p:cNvCxnSpPr>
          <p:nvPr/>
        </p:nvCxnSpPr>
        <p:spPr>
          <a:xfrm>
            <a:off x="11430000" y="9677400"/>
            <a:ext cx="0" cy="6096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8EF0BF3-4AAC-94CC-E673-5AB0ED1F1456}"/>
              </a:ext>
            </a:extLst>
          </p:cNvPr>
          <p:cNvCxnSpPr/>
          <p:nvPr/>
        </p:nvCxnSpPr>
        <p:spPr>
          <a:xfrm>
            <a:off x="11430000" y="10287000"/>
            <a:ext cx="198120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CD3530A-2E37-D6F5-F616-69D7F3E61C99}"/>
              </a:ext>
            </a:extLst>
          </p:cNvPr>
          <p:cNvCxnSpPr/>
          <p:nvPr/>
        </p:nvCxnSpPr>
        <p:spPr>
          <a:xfrm flipV="1">
            <a:off x="13411200" y="7924800"/>
            <a:ext cx="0" cy="23622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680C2DB-084C-FC1B-5C90-5B91D38EB4B7}"/>
              </a:ext>
            </a:extLst>
          </p:cNvPr>
          <p:cNvCxnSpPr/>
          <p:nvPr/>
        </p:nvCxnSpPr>
        <p:spPr>
          <a:xfrm flipH="1">
            <a:off x="13030200" y="7924800"/>
            <a:ext cx="381000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B40075-46E3-C5B3-212E-40EB8053C5B1}"/>
              </a:ext>
            </a:extLst>
          </p:cNvPr>
          <p:cNvSpPr/>
          <p:nvPr/>
        </p:nvSpPr>
        <p:spPr>
          <a:xfrm>
            <a:off x="8077200" y="8763000"/>
            <a:ext cx="2209797" cy="114299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6FC3E8-DD3B-9792-2C30-BAB0A45004A2}"/>
              </a:ext>
            </a:extLst>
          </p:cNvPr>
          <p:cNvSpPr txBox="1"/>
          <p:nvPr/>
        </p:nvSpPr>
        <p:spPr>
          <a:xfrm>
            <a:off x="13868400" y="10839317"/>
            <a:ext cx="3377848" cy="107721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err="1">
                <a:solidFill>
                  <a:srgbClr val="0070C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rd</a:t>
            </a:r>
            <a:r>
              <a:rPr lang="en-US" altLang="ko-KR" sz="3200" dirty="0">
                <a:solidFill>
                  <a:srgbClr val="0070C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PC + 4</a:t>
            </a:r>
          </a:p>
          <a:p>
            <a:pPr algn="l"/>
            <a:r>
              <a:rPr lang="en-US" altLang="ko-KR" sz="3200" dirty="0">
                <a:solidFill>
                  <a:srgbClr val="0070C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PC += rs1 + </a:t>
            </a:r>
            <a:r>
              <a:rPr lang="en-US" altLang="ko-KR" sz="3200" dirty="0" err="1">
                <a:solidFill>
                  <a:srgbClr val="0070C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imm</a:t>
            </a:r>
            <a:endParaRPr lang="en-US" altLang="ko-KR" sz="3200" dirty="0">
              <a:solidFill>
                <a:srgbClr val="0070C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B44465E-843F-114D-5A98-1128DE14079B}"/>
              </a:ext>
            </a:extLst>
          </p:cNvPr>
          <p:cNvCxnSpPr/>
          <p:nvPr/>
        </p:nvCxnSpPr>
        <p:spPr>
          <a:xfrm>
            <a:off x="10363200" y="4495800"/>
            <a:ext cx="0" cy="40386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39FFA81-6F5D-842A-A107-D6B2CD3B07AC}"/>
              </a:ext>
            </a:extLst>
          </p:cNvPr>
          <p:cNvCxnSpPr/>
          <p:nvPr/>
        </p:nvCxnSpPr>
        <p:spPr>
          <a:xfrm>
            <a:off x="10363200" y="8610600"/>
            <a:ext cx="28194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00AD93D-4729-210B-625A-67C44D099522}"/>
              </a:ext>
            </a:extLst>
          </p:cNvPr>
          <p:cNvCxnSpPr/>
          <p:nvPr/>
        </p:nvCxnSpPr>
        <p:spPr>
          <a:xfrm>
            <a:off x="13182600" y="8534400"/>
            <a:ext cx="0" cy="533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E3B84E2-9A46-06AF-90B8-7E82794032C4}"/>
              </a:ext>
            </a:extLst>
          </p:cNvPr>
          <p:cNvCxnSpPr/>
          <p:nvPr/>
        </p:nvCxnSpPr>
        <p:spPr>
          <a:xfrm flipH="1">
            <a:off x="12877800" y="9067800"/>
            <a:ext cx="3048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998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AF1B-87B7-0E35-9E2C-D6D390E9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1767523-EB02-B59A-3A76-6B72DFE05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562C94C-8A14-4194-ADEA-0F11E93BF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E4212965-EBCF-CB64-01AE-CF1134F49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7A58216-B6F0-31BF-9EBB-5619985DB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B32F1D68-61C9-252B-355A-BB779BAD5C47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0070C0"/>
                </a:solidFill>
                <a:latin typeface="Pretendard Bold"/>
                <a:ea typeface="Pretendard Bold"/>
                <a:cs typeface="Pretendard Bold"/>
              </a:rPr>
              <a:t>JL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E798FFA2-1443-BD84-3A75-5A028A0C20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8481" y="6336163"/>
            <a:ext cx="12059622" cy="246950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3C36BDB-2E06-A073-CA47-8133FF60EF27}"/>
              </a:ext>
            </a:extLst>
          </p:cNvPr>
          <p:cNvSpPr txBox="1"/>
          <p:nvPr/>
        </p:nvSpPr>
        <p:spPr>
          <a:xfrm>
            <a:off x="13868400" y="4712268"/>
            <a:ext cx="87719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Address Shift / Jump + Read (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인터럽트에 활용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)  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        RD = PC +4 ; </a:t>
            </a:r>
          </a:p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        PC = RS1 + </a:t>
            </a:r>
            <a:r>
              <a:rPr lang="en-US" altLang="ko-KR" sz="3200" dirty="0" err="1">
                <a:latin typeface="Pretendard SemiBold" panose="020B0600000101010101" charset="-127"/>
                <a:ea typeface="Pretendard SemiBold" panose="020B0600000101010101" charset="-127"/>
              </a:rPr>
              <a:t>imm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 ;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B8FB6F64-AEB0-E8E5-766D-73B2AD4868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134" y="1890776"/>
            <a:ext cx="11099697" cy="10479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9DC58F55-578D-D871-A085-A619C61AE2A2}"/>
              </a:ext>
            </a:extLst>
          </p:cNvPr>
          <p:cNvSpPr/>
          <p:nvPr/>
        </p:nvSpPr>
        <p:spPr>
          <a:xfrm>
            <a:off x="3555083" y="4387088"/>
            <a:ext cx="1600200" cy="1676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FD98FA8-0C3B-B27D-823F-16DABB2815EB}"/>
              </a:ext>
            </a:extLst>
          </p:cNvPr>
          <p:cNvSpPr/>
          <p:nvPr/>
        </p:nvSpPr>
        <p:spPr>
          <a:xfrm>
            <a:off x="735683" y="4234688"/>
            <a:ext cx="1295400" cy="228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6B5C337-A4E0-D409-DAB2-2498411A3F76}"/>
              </a:ext>
            </a:extLst>
          </p:cNvPr>
          <p:cNvCxnSpPr/>
          <p:nvPr/>
        </p:nvCxnSpPr>
        <p:spPr>
          <a:xfrm>
            <a:off x="7136483" y="6749288"/>
            <a:ext cx="0" cy="6858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AD022903-23FE-AF48-E196-4F85714E65D2}"/>
              </a:ext>
            </a:extLst>
          </p:cNvPr>
          <p:cNvCxnSpPr>
            <a:cxnSpLocks/>
            <a:endCxn id="36" idx="2"/>
          </p:cNvCxnSpPr>
          <p:nvPr/>
        </p:nvCxnSpPr>
        <p:spPr>
          <a:xfrm rot="10800000">
            <a:off x="4355183" y="6063488"/>
            <a:ext cx="2781300" cy="685800"/>
          </a:xfrm>
          <a:prstGeom prst="bentConnector2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0D1374D-1E8F-9D78-F41B-FB2E0D9227A2}"/>
              </a:ext>
            </a:extLst>
          </p:cNvPr>
          <p:cNvSpPr/>
          <p:nvPr/>
        </p:nvSpPr>
        <p:spPr>
          <a:xfrm>
            <a:off x="3097883" y="6977888"/>
            <a:ext cx="1257297" cy="68580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70C0"/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F2DD6F1-F860-67BC-E18D-F43F3964EA7F}"/>
              </a:ext>
            </a:extLst>
          </p:cNvPr>
          <p:cNvCxnSpPr/>
          <p:nvPr/>
        </p:nvCxnSpPr>
        <p:spPr>
          <a:xfrm>
            <a:off x="1345283" y="9644888"/>
            <a:ext cx="152400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3D54ABB6-06CE-8F6D-AB42-7EE528E62489}"/>
              </a:ext>
            </a:extLst>
          </p:cNvPr>
          <p:cNvCxnSpPr/>
          <p:nvPr/>
        </p:nvCxnSpPr>
        <p:spPr>
          <a:xfrm>
            <a:off x="1345283" y="9644888"/>
            <a:ext cx="0" cy="11430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34F8A99-151D-358B-34BD-B12C3162C074}"/>
              </a:ext>
            </a:extLst>
          </p:cNvPr>
          <p:cNvCxnSpPr/>
          <p:nvPr/>
        </p:nvCxnSpPr>
        <p:spPr>
          <a:xfrm>
            <a:off x="1345283" y="10864088"/>
            <a:ext cx="662940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C18D659-304A-085D-A4C4-6379C3417EC1}"/>
              </a:ext>
            </a:extLst>
          </p:cNvPr>
          <p:cNvCxnSpPr/>
          <p:nvPr/>
        </p:nvCxnSpPr>
        <p:spPr>
          <a:xfrm flipV="1">
            <a:off x="7974683" y="9644888"/>
            <a:ext cx="0" cy="12954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1A654F3-DE77-8764-2166-548E96A7631E}"/>
              </a:ext>
            </a:extLst>
          </p:cNvPr>
          <p:cNvCxnSpPr/>
          <p:nvPr/>
        </p:nvCxnSpPr>
        <p:spPr>
          <a:xfrm flipH="1">
            <a:off x="7669883" y="9644888"/>
            <a:ext cx="304800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F20D829-616C-D1CA-1646-8901EEA25BC5}"/>
              </a:ext>
            </a:extLst>
          </p:cNvPr>
          <p:cNvCxnSpPr/>
          <p:nvPr/>
        </p:nvCxnSpPr>
        <p:spPr>
          <a:xfrm>
            <a:off x="4317083" y="7358888"/>
            <a:ext cx="278130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EA7BC8F-5D00-62AB-B4D0-80AB3F41FCD6}"/>
              </a:ext>
            </a:extLst>
          </p:cNvPr>
          <p:cNvCxnSpPr>
            <a:cxnSpLocks/>
          </p:cNvCxnSpPr>
          <p:nvPr/>
        </p:nvCxnSpPr>
        <p:spPr>
          <a:xfrm>
            <a:off x="7098386" y="7358888"/>
            <a:ext cx="0" cy="1676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BD39497-3BC3-2AE1-F414-3E7ACE4192D8}"/>
              </a:ext>
            </a:extLst>
          </p:cNvPr>
          <p:cNvCxnSpPr/>
          <p:nvPr/>
        </p:nvCxnSpPr>
        <p:spPr>
          <a:xfrm flipH="1">
            <a:off x="6755483" y="9035288"/>
            <a:ext cx="381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048FB4A-2411-F523-C6A0-8686D50119A8}"/>
              </a:ext>
            </a:extLst>
          </p:cNvPr>
          <p:cNvSpPr/>
          <p:nvPr/>
        </p:nvSpPr>
        <p:spPr>
          <a:xfrm>
            <a:off x="5764883" y="10940288"/>
            <a:ext cx="2743197" cy="1142999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8A763763-E878-DE7D-C5E3-5271C47427E5}"/>
              </a:ext>
            </a:extLst>
          </p:cNvPr>
          <p:cNvCxnSpPr>
            <a:cxnSpLocks/>
          </p:cNvCxnSpPr>
          <p:nvPr/>
        </p:nvCxnSpPr>
        <p:spPr>
          <a:xfrm>
            <a:off x="6222083" y="9949688"/>
            <a:ext cx="0" cy="6096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86EED3D-CC79-DC2E-6266-F18A084F48AB}"/>
              </a:ext>
            </a:extLst>
          </p:cNvPr>
          <p:cNvCxnSpPr/>
          <p:nvPr/>
        </p:nvCxnSpPr>
        <p:spPr>
          <a:xfrm>
            <a:off x="6222083" y="10559288"/>
            <a:ext cx="198120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B1D877A-A76E-FA3D-EA9E-097CBBA317F5}"/>
              </a:ext>
            </a:extLst>
          </p:cNvPr>
          <p:cNvCxnSpPr/>
          <p:nvPr/>
        </p:nvCxnSpPr>
        <p:spPr>
          <a:xfrm flipV="1">
            <a:off x="8203283" y="8197088"/>
            <a:ext cx="0" cy="23622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1A3E3BF-5BEC-DC3D-2F58-38923D4D8ADA}"/>
              </a:ext>
            </a:extLst>
          </p:cNvPr>
          <p:cNvCxnSpPr/>
          <p:nvPr/>
        </p:nvCxnSpPr>
        <p:spPr>
          <a:xfrm flipH="1">
            <a:off x="7822283" y="8197088"/>
            <a:ext cx="381000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F8E8C49-343A-1E26-3642-0DCC4BA1383D}"/>
              </a:ext>
            </a:extLst>
          </p:cNvPr>
          <p:cNvSpPr/>
          <p:nvPr/>
        </p:nvSpPr>
        <p:spPr>
          <a:xfrm>
            <a:off x="2869283" y="9035288"/>
            <a:ext cx="2209797" cy="114299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9C33A8-6D5D-B780-C187-58F49B787F4E}"/>
              </a:ext>
            </a:extLst>
          </p:cNvPr>
          <p:cNvSpPr txBox="1"/>
          <p:nvPr/>
        </p:nvSpPr>
        <p:spPr>
          <a:xfrm>
            <a:off x="8660483" y="11111605"/>
            <a:ext cx="3377848" cy="107721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err="1">
                <a:solidFill>
                  <a:srgbClr val="0070C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rd</a:t>
            </a:r>
            <a:r>
              <a:rPr lang="en-US" altLang="ko-KR" sz="3200" dirty="0">
                <a:solidFill>
                  <a:srgbClr val="0070C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PC + 4</a:t>
            </a:r>
          </a:p>
          <a:p>
            <a:pPr algn="l"/>
            <a:r>
              <a:rPr lang="en-US" altLang="ko-KR" sz="3200" dirty="0">
                <a:solidFill>
                  <a:srgbClr val="0070C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PC += rs1 + </a:t>
            </a:r>
            <a:r>
              <a:rPr lang="en-US" altLang="ko-KR" sz="3200" dirty="0" err="1">
                <a:solidFill>
                  <a:srgbClr val="0070C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imm</a:t>
            </a:r>
            <a:endParaRPr lang="en-US" altLang="ko-KR" sz="3200" dirty="0">
              <a:solidFill>
                <a:srgbClr val="0070C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872AC50E-37AA-4349-A292-0920FA0A7379}"/>
              </a:ext>
            </a:extLst>
          </p:cNvPr>
          <p:cNvCxnSpPr/>
          <p:nvPr/>
        </p:nvCxnSpPr>
        <p:spPr>
          <a:xfrm>
            <a:off x="5155283" y="4768088"/>
            <a:ext cx="0" cy="40386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1FD14C7-D0DA-E65F-EEC5-06EAD13520E5}"/>
              </a:ext>
            </a:extLst>
          </p:cNvPr>
          <p:cNvCxnSpPr/>
          <p:nvPr/>
        </p:nvCxnSpPr>
        <p:spPr>
          <a:xfrm>
            <a:off x="5155283" y="8882888"/>
            <a:ext cx="28194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AC87F117-52AF-BE4A-F028-C64B28EC5A04}"/>
              </a:ext>
            </a:extLst>
          </p:cNvPr>
          <p:cNvCxnSpPr/>
          <p:nvPr/>
        </p:nvCxnSpPr>
        <p:spPr>
          <a:xfrm>
            <a:off x="7974683" y="8806688"/>
            <a:ext cx="0" cy="533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B9DC242-A836-4561-776C-469B3A5EA381}"/>
              </a:ext>
            </a:extLst>
          </p:cNvPr>
          <p:cNvCxnSpPr/>
          <p:nvPr/>
        </p:nvCxnSpPr>
        <p:spPr>
          <a:xfrm flipH="1">
            <a:off x="7669883" y="9340088"/>
            <a:ext cx="3048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9411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20B2-05D4-5898-89C2-637D143F9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CA67E24-3174-FB5E-0C28-11BFB5BA0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85CE902-4943-D0E3-BA7B-DE09EA49A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C3A16F34-011A-4D0E-C44A-40B39A824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51E1AB13-EC85-91EA-3DBB-8EA406089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FC55ED46-45F7-48F4-D244-1B0FB502E6CC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7030A0"/>
                </a:solidFill>
                <a:latin typeface="Pretendard Bold"/>
                <a:ea typeface="Pretendard Bold"/>
                <a:cs typeface="Pretendard Bold"/>
              </a:rPr>
              <a:t>J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 &amp; </a:t>
            </a:r>
            <a:r>
              <a:rPr lang="en-US" altLang="ko-KR" sz="6666" dirty="0">
                <a:solidFill>
                  <a:srgbClr val="0070C0"/>
                </a:solidFill>
                <a:latin typeface="Pretendard Bold"/>
                <a:ea typeface="Pretendard Bold"/>
                <a:cs typeface="Pretendard Bold"/>
              </a:rPr>
              <a:t>JL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8BB8978-2FAC-5F09-7678-C95896379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97067"/>
              </p:ext>
            </p:extLst>
          </p:nvPr>
        </p:nvGraphicFramePr>
        <p:xfrm>
          <a:off x="13258800" y="4025900"/>
          <a:ext cx="10644753" cy="4622800"/>
        </p:xfrm>
        <a:graphic>
          <a:graphicData uri="http://schemas.openxmlformats.org/drawingml/2006/table">
            <a:tbl>
              <a:tblPr/>
              <a:tblGrid>
                <a:gridCol w="1221711">
                  <a:extLst>
                    <a:ext uri="{9D8B030D-6E8A-4147-A177-3AD203B41FA5}">
                      <a16:colId xmlns:a16="http://schemas.microsoft.com/office/drawing/2014/main" val="38061405"/>
                    </a:ext>
                  </a:extLst>
                </a:gridCol>
                <a:gridCol w="2671174">
                  <a:extLst>
                    <a:ext uri="{9D8B030D-6E8A-4147-A177-3AD203B41FA5}">
                      <a16:colId xmlns:a16="http://schemas.microsoft.com/office/drawing/2014/main" val="4139653924"/>
                    </a:ext>
                  </a:extLst>
                </a:gridCol>
                <a:gridCol w="1221711">
                  <a:extLst>
                    <a:ext uri="{9D8B030D-6E8A-4147-A177-3AD203B41FA5}">
                      <a16:colId xmlns:a16="http://schemas.microsoft.com/office/drawing/2014/main" val="1710419636"/>
                    </a:ext>
                  </a:extLst>
                </a:gridCol>
                <a:gridCol w="1221711">
                  <a:extLst>
                    <a:ext uri="{9D8B030D-6E8A-4147-A177-3AD203B41FA5}">
                      <a16:colId xmlns:a16="http://schemas.microsoft.com/office/drawing/2014/main" val="1688914963"/>
                    </a:ext>
                  </a:extLst>
                </a:gridCol>
                <a:gridCol w="1652905">
                  <a:extLst>
                    <a:ext uri="{9D8B030D-6E8A-4147-A177-3AD203B41FA5}">
                      <a16:colId xmlns:a16="http://schemas.microsoft.com/office/drawing/2014/main" val="3963297390"/>
                    </a:ext>
                  </a:extLst>
                </a:gridCol>
                <a:gridCol w="1221711">
                  <a:extLst>
                    <a:ext uri="{9D8B030D-6E8A-4147-A177-3AD203B41FA5}">
                      <a16:colId xmlns:a16="http://schemas.microsoft.com/office/drawing/2014/main" val="2028200776"/>
                    </a:ext>
                  </a:extLst>
                </a:gridCol>
                <a:gridCol w="1433830">
                  <a:extLst>
                    <a:ext uri="{9D8B030D-6E8A-4147-A177-3AD203B41FA5}">
                      <a16:colId xmlns:a16="http://schemas.microsoft.com/office/drawing/2014/main" val="3038116048"/>
                    </a:ext>
                  </a:extLst>
                </a:gridCol>
              </a:tblGrid>
              <a:tr h="127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Instr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wb_out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 next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992872"/>
                  </a:ext>
                </a:extLst>
              </a:tr>
              <a:tr h="691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jal</a:t>
                      </a: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x1,+8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jump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133091"/>
                  </a:ext>
                </a:extLst>
              </a:tr>
              <a:tr h="691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nop</a:t>
                      </a:r>
                      <a:endParaRPr lang="en-US" sz="3200" dirty="0"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Nop</a:t>
                      </a:r>
                      <a:endParaRPr lang="en-US" sz="3200" dirty="0"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148479"/>
                  </a:ext>
                </a:extLst>
              </a:tr>
              <a:tr h="691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nop</a:t>
                      </a:r>
                      <a:endParaRPr lang="en-US" sz="3200" dirty="0"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839629"/>
                  </a:ext>
                </a:extLst>
              </a:tr>
              <a:tr h="127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jalr x2,0(x4)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JALR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211852"/>
                  </a:ext>
                </a:extLst>
              </a:tr>
            </a:tbl>
          </a:graphicData>
        </a:graphic>
      </p:graphicFrame>
      <p:pic>
        <p:nvPicPr>
          <p:cNvPr id="39" name="그림 38">
            <a:extLst>
              <a:ext uri="{FF2B5EF4-FFF2-40B4-BE49-F238E27FC236}">
                <a16:creationId xmlns:a16="http://schemas.microsoft.com/office/drawing/2014/main" id="{7E03720E-F877-EB70-F79C-62A24FCD1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714" y="4970018"/>
            <a:ext cx="11229936" cy="273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0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27E4-B031-004E-D62E-20BFD7D02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A25DA82-0193-73D8-B6DE-D4FE6BB6B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7D6E52A8-D182-64C1-546D-374556723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884400F-84FF-5ABD-8568-D09866BE0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0A090AE-5153-D0A3-6843-39DA547F5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A7FFB6E5-A520-E96A-B329-B5B746D6E053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설명 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6666" dirty="0">
                <a:solidFill>
                  <a:srgbClr val="7030A0"/>
                </a:solidFill>
                <a:latin typeface="Pretendard Bold"/>
                <a:ea typeface="Pretendard Bold"/>
                <a:cs typeface="Pretendard Bold"/>
              </a:rPr>
              <a:t>J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 &amp; </a:t>
            </a:r>
            <a:r>
              <a:rPr lang="en-US" altLang="ko-KR" sz="6666" dirty="0">
                <a:solidFill>
                  <a:srgbClr val="0070C0"/>
                </a:solidFill>
                <a:latin typeface="Pretendard Bold"/>
                <a:ea typeface="Pretendard Bold"/>
                <a:cs typeface="Pretendard Bold"/>
              </a:rPr>
              <a:t>JL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-TYPE)</a:t>
            </a:r>
            <a:r>
              <a:rPr lang="ko-KR" altLang="en-US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6666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91D8551-6FF9-E3A7-CCF9-55F165F39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137303"/>
              </p:ext>
            </p:extLst>
          </p:nvPr>
        </p:nvGraphicFramePr>
        <p:xfrm>
          <a:off x="6069522" y="7747000"/>
          <a:ext cx="10644753" cy="4622800"/>
        </p:xfrm>
        <a:graphic>
          <a:graphicData uri="http://schemas.openxmlformats.org/drawingml/2006/table">
            <a:tbl>
              <a:tblPr/>
              <a:tblGrid>
                <a:gridCol w="1221711">
                  <a:extLst>
                    <a:ext uri="{9D8B030D-6E8A-4147-A177-3AD203B41FA5}">
                      <a16:colId xmlns:a16="http://schemas.microsoft.com/office/drawing/2014/main" val="38061405"/>
                    </a:ext>
                  </a:extLst>
                </a:gridCol>
                <a:gridCol w="2671174">
                  <a:extLst>
                    <a:ext uri="{9D8B030D-6E8A-4147-A177-3AD203B41FA5}">
                      <a16:colId xmlns:a16="http://schemas.microsoft.com/office/drawing/2014/main" val="4139653924"/>
                    </a:ext>
                  </a:extLst>
                </a:gridCol>
                <a:gridCol w="1221711">
                  <a:extLst>
                    <a:ext uri="{9D8B030D-6E8A-4147-A177-3AD203B41FA5}">
                      <a16:colId xmlns:a16="http://schemas.microsoft.com/office/drawing/2014/main" val="1710419636"/>
                    </a:ext>
                  </a:extLst>
                </a:gridCol>
                <a:gridCol w="1221711">
                  <a:extLst>
                    <a:ext uri="{9D8B030D-6E8A-4147-A177-3AD203B41FA5}">
                      <a16:colId xmlns:a16="http://schemas.microsoft.com/office/drawing/2014/main" val="1688914963"/>
                    </a:ext>
                  </a:extLst>
                </a:gridCol>
                <a:gridCol w="1652905">
                  <a:extLst>
                    <a:ext uri="{9D8B030D-6E8A-4147-A177-3AD203B41FA5}">
                      <a16:colId xmlns:a16="http://schemas.microsoft.com/office/drawing/2014/main" val="3963297390"/>
                    </a:ext>
                  </a:extLst>
                </a:gridCol>
                <a:gridCol w="1221711">
                  <a:extLst>
                    <a:ext uri="{9D8B030D-6E8A-4147-A177-3AD203B41FA5}">
                      <a16:colId xmlns:a16="http://schemas.microsoft.com/office/drawing/2014/main" val="2028200776"/>
                    </a:ext>
                  </a:extLst>
                </a:gridCol>
                <a:gridCol w="1433830">
                  <a:extLst>
                    <a:ext uri="{9D8B030D-6E8A-4147-A177-3AD203B41FA5}">
                      <a16:colId xmlns:a16="http://schemas.microsoft.com/office/drawing/2014/main" val="3038116048"/>
                    </a:ext>
                  </a:extLst>
                </a:gridCol>
              </a:tblGrid>
              <a:tr h="127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Instr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wb_out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PC next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992872"/>
                  </a:ext>
                </a:extLst>
              </a:tr>
              <a:tr h="691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jal</a:t>
                      </a: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x1,+8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jump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133091"/>
                  </a:ext>
                </a:extLst>
              </a:tr>
              <a:tr h="691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Nop</a:t>
                      </a:r>
                      <a:endParaRPr lang="en-US" sz="3200" dirty="0"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148479"/>
                  </a:ext>
                </a:extLst>
              </a:tr>
              <a:tr h="691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nop</a:t>
                      </a:r>
                      <a:endParaRPr lang="en-US" sz="3200" dirty="0"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839629"/>
                  </a:ext>
                </a:extLst>
              </a:tr>
              <a:tr h="127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jalr x2,0(x4)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JALR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21185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0E63F3E-3B46-1873-E14B-8E3402CF38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7646" y="2222500"/>
            <a:ext cx="17268507" cy="47498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3A7E6C2-5DB1-19CC-B345-41DDA721059C}"/>
              </a:ext>
            </a:extLst>
          </p:cNvPr>
          <p:cNvSpPr/>
          <p:nvPr/>
        </p:nvSpPr>
        <p:spPr>
          <a:xfrm>
            <a:off x="15316200" y="2667000"/>
            <a:ext cx="3886200" cy="533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E93D14-A535-3A05-6351-6F5F4A684E8D}"/>
              </a:ext>
            </a:extLst>
          </p:cNvPr>
          <p:cNvSpPr/>
          <p:nvPr/>
        </p:nvSpPr>
        <p:spPr>
          <a:xfrm>
            <a:off x="19202400" y="6553200"/>
            <a:ext cx="609600" cy="4191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9C01312-C5B2-633A-8B04-C09963678240}"/>
              </a:ext>
            </a:extLst>
          </p:cNvPr>
          <p:cNvCxnSpPr>
            <a:endCxn id="13" idx="2"/>
          </p:cNvCxnSpPr>
          <p:nvPr/>
        </p:nvCxnSpPr>
        <p:spPr>
          <a:xfrm flipV="1">
            <a:off x="13258800" y="6972300"/>
            <a:ext cx="6248400" cy="43815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F3934E85-33C5-0577-925A-8B8C7FDEE47E}"/>
              </a:ext>
            </a:extLst>
          </p:cNvPr>
          <p:cNvCxnSpPr>
            <a:endCxn id="9" idx="3"/>
          </p:cNvCxnSpPr>
          <p:nvPr/>
        </p:nvCxnSpPr>
        <p:spPr>
          <a:xfrm rot="5400000" flipH="1" flipV="1">
            <a:off x="12706350" y="5238750"/>
            <a:ext cx="8801100" cy="4191000"/>
          </a:xfrm>
          <a:prstGeom prst="bentConnector4">
            <a:avLst>
              <a:gd name="adj1" fmla="val 277"/>
              <a:gd name="adj2" fmla="val 182255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581F2A6-9D85-2AC4-3C5C-192D5AD798E7}"/>
              </a:ext>
            </a:extLst>
          </p:cNvPr>
          <p:cNvSpPr/>
          <p:nvPr/>
        </p:nvSpPr>
        <p:spPr>
          <a:xfrm>
            <a:off x="6629400" y="5029200"/>
            <a:ext cx="982980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0F3802B-1D67-DB59-79DF-D9D962D95B12}"/>
              </a:ext>
            </a:extLst>
          </p:cNvPr>
          <p:cNvCxnSpPr/>
          <p:nvPr/>
        </p:nvCxnSpPr>
        <p:spPr>
          <a:xfrm flipH="1" flipV="1">
            <a:off x="11506200" y="5562600"/>
            <a:ext cx="1752600" cy="35814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C7FFD3E-EAFA-F056-D65A-3F8D8B94B126}"/>
              </a:ext>
            </a:extLst>
          </p:cNvPr>
          <p:cNvSpPr/>
          <p:nvPr/>
        </p:nvSpPr>
        <p:spPr>
          <a:xfrm>
            <a:off x="6629400" y="2667000"/>
            <a:ext cx="6781800" cy="5715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D6BB10D-2A4C-85C7-72DC-5D39113A8A18}"/>
              </a:ext>
            </a:extLst>
          </p:cNvPr>
          <p:cNvCxnSpPr>
            <a:cxnSpLocks/>
            <a:endCxn id="23" idx="3"/>
          </p:cNvCxnSpPr>
          <p:nvPr/>
        </p:nvCxnSpPr>
        <p:spPr>
          <a:xfrm flipH="1" flipV="1">
            <a:off x="13411200" y="2952750"/>
            <a:ext cx="1219200" cy="61912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662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1to10 adder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71F25A-7554-D17A-0D1B-8ADB4C9C6D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0" y="1574800"/>
            <a:ext cx="5115021" cy="1066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794EEBB-D372-88F8-2834-639A674E7E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137" y="4284186"/>
            <a:ext cx="10457187" cy="4593464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87C545A3-F24A-7FDD-CDD9-66FDE9B2764B}"/>
              </a:ext>
            </a:extLst>
          </p:cNvPr>
          <p:cNvSpPr/>
          <p:nvPr/>
        </p:nvSpPr>
        <p:spPr>
          <a:xfrm>
            <a:off x="12344400" y="5181600"/>
            <a:ext cx="2743200" cy="2336800"/>
          </a:xfrm>
          <a:prstGeom prst="right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50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689D6-7673-CF90-3DCE-C81D35CF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B1BCCA-7E22-56A1-B5D5-D72322C59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4E80797-3877-D2C2-1043-41A719A73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E17B9CD-B861-0570-34CE-525E9E508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A126DDA-52DB-8DC2-F05C-28C758114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E0DC22ED-01F0-60A1-11BB-8081ED4208F0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1to10 adder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535" y="2819400"/>
            <a:ext cx="8199726" cy="81534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0800" y="2514600"/>
            <a:ext cx="12751684" cy="86106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143000" y="3124200"/>
            <a:ext cx="38862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13792200" y="5410200"/>
            <a:ext cx="1143000" cy="4572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>
            <a:stCxn id="5" idx="3"/>
            <a:endCxn id="9" idx="1"/>
          </p:cNvCxnSpPr>
          <p:nvPr/>
        </p:nvCxnSpPr>
        <p:spPr>
          <a:xfrm>
            <a:off x="5029200" y="3314700"/>
            <a:ext cx="8763000" cy="23241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1143000" y="4343400"/>
            <a:ext cx="4267200" cy="1295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5867400" y="4648200"/>
            <a:ext cx="1529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SCOPE</a:t>
            </a:r>
            <a:endParaRPr lang="ko-KR" altLang="en-US" sz="3200" dirty="0" smtClean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4630400" y="2514600"/>
            <a:ext cx="2895600" cy="8610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18897600" y="5410200"/>
            <a:ext cx="7620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꺾인 연결선 37"/>
          <p:cNvCxnSpPr>
            <a:endCxn id="36" idx="0"/>
          </p:cNvCxnSpPr>
          <p:nvPr/>
        </p:nvCxnSpPr>
        <p:spPr>
          <a:xfrm>
            <a:off x="5410200" y="4648200"/>
            <a:ext cx="13868400" cy="762000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17526000" y="5791200"/>
            <a:ext cx="29972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꺾인 연결선 42"/>
          <p:cNvCxnSpPr>
            <a:stCxn id="33" idx="2"/>
            <a:endCxn id="41" idx="2"/>
          </p:cNvCxnSpPr>
          <p:nvPr/>
        </p:nvCxnSpPr>
        <p:spPr>
          <a:xfrm rot="16200000" flipH="1">
            <a:off x="10883900" y="-1968500"/>
            <a:ext cx="533400" cy="15748000"/>
          </a:xfrm>
          <a:prstGeom prst="bentConnector3">
            <a:avLst>
              <a:gd name="adj1" fmla="val 200772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158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03F9B-5955-3161-ACCC-CDC596871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70F94D7-F6B6-6DF2-D45B-84D05E7C0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288F861-C6D6-D5C7-76F5-7D34BC3B6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02B4B71-C44D-AAA5-23BF-F656278E6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76AEE2A-1575-E703-3A86-39C278399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9D8BEF39-8A49-CB05-EC73-DAD2C6909AA8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1to10 adder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535" y="2819400"/>
            <a:ext cx="8199726" cy="81534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0800" y="2514600"/>
            <a:ext cx="12751684" cy="861060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219200" y="5638800"/>
            <a:ext cx="4267200" cy="609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8211800" y="9753600"/>
            <a:ext cx="1600200" cy="609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>
            <a:stCxn id="4" idx="3"/>
            <a:endCxn id="5" idx="1"/>
          </p:cNvCxnSpPr>
          <p:nvPr/>
        </p:nvCxnSpPr>
        <p:spPr>
          <a:xfrm>
            <a:off x="5486400" y="5943600"/>
            <a:ext cx="12725400" cy="4114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19659600" y="2921000"/>
            <a:ext cx="762000" cy="431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/>
          <p:nvPr/>
        </p:nvCxnSpPr>
        <p:spPr>
          <a:xfrm flipH="1">
            <a:off x="1600200" y="6400800"/>
            <a:ext cx="2971800" cy="2286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1219200" y="8686800"/>
            <a:ext cx="3810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219200" y="8991600"/>
            <a:ext cx="4876800" cy="685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1107400" y="7239000"/>
            <a:ext cx="14478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/>
          <p:cNvCxnSpPr>
            <a:stCxn id="29" idx="3"/>
            <a:endCxn id="31" idx="1"/>
          </p:cNvCxnSpPr>
          <p:nvPr/>
        </p:nvCxnSpPr>
        <p:spPr>
          <a:xfrm flipV="1">
            <a:off x="6096000" y="7391400"/>
            <a:ext cx="15011400" cy="19431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21793200" y="2921000"/>
            <a:ext cx="762000" cy="355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/>
          <p:cNvCxnSpPr>
            <a:stCxn id="31" idx="0"/>
            <a:endCxn id="34" idx="2"/>
          </p:cNvCxnSpPr>
          <p:nvPr/>
        </p:nvCxnSpPr>
        <p:spPr>
          <a:xfrm flipV="1">
            <a:off x="21831300" y="3276600"/>
            <a:ext cx="342900" cy="39624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60116" y="8356312"/>
            <a:ext cx="2549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A4=&lt;a5 </a:t>
            </a:r>
            <a:r>
              <a:rPr lang="ko-KR" altLang="en-US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라면</a:t>
            </a:r>
          </a:p>
        </p:txBody>
      </p:sp>
    </p:spTree>
    <p:extLst>
      <p:ext uri="{BB962C8B-B14F-4D97-AF65-F5344CB8AC3E}">
        <p14:creationId xmlns:p14="http://schemas.microsoft.com/office/powerpoint/2010/main" val="1251189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535" y="12674600"/>
            <a:ext cx="22352000" cy="25400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1to10 adder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535" y="2819400"/>
            <a:ext cx="8199726" cy="81534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400" y="2514600"/>
            <a:ext cx="13563600" cy="895793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47270" y="6565612"/>
            <a:ext cx="30844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(S0-20)/4 = 59</a:t>
            </a:r>
            <a:endParaRPr lang="ko-KR" altLang="en-US" sz="3200" dirty="0" smtClean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71625" y="7403812"/>
            <a:ext cx="30877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(S0-24)/4 = 58</a:t>
            </a:r>
            <a:endParaRPr lang="ko-KR" altLang="en-US" sz="3200" dirty="0" smtClean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219200" y="6553199"/>
            <a:ext cx="4114800" cy="6096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3639800" y="10363200"/>
            <a:ext cx="12192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>
            <a:stCxn id="27" idx="0"/>
          </p:cNvCxnSpPr>
          <p:nvPr/>
        </p:nvCxnSpPr>
        <p:spPr>
          <a:xfrm flipV="1">
            <a:off x="14249400" y="7696200"/>
            <a:ext cx="609600" cy="2667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1219200" y="7162801"/>
            <a:ext cx="4114800" cy="91440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15277425" y="7465129"/>
            <a:ext cx="724575" cy="30480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6077525" y="10092369"/>
            <a:ext cx="685800" cy="30480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꺾인 연결선 43"/>
          <p:cNvCxnSpPr/>
          <p:nvPr/>
        </p:nvCxnSpPr>
        <p:spPr>
          <a:xfrm rot="5400000" flipH="1" flipV="1">
            <a:off x="15315862" y="8457863"/>
            <a:ext cx="3200400" cy="305475"/>
          </a:xfrm>
          <a:prstGeom prst="bentConnector3">
            <a:avLst>
              <a:gd name="adj1" fmla="val -579"/>
            </a:avLst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16823904" y="10447816"/>
            <a:ext cx="685800" cy="30480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꺾인 연결선 46"/>
          <p:cNvCxnSpPr/>
          <p:nvPr/>
        </p:nvCxnSpPr>
        <p:spPr>
          <a:xfrm rot="5400000" flipH="1" flipV="1">
            <a:off x="15669596" y="8405719"/>
            <a:ext cx="4000636" cy="320423"/>
          </a:xfrm>
          <a:prstGeom prst="bentConnector3">
            <a:avLst>
              <a:gd name="adj1" fmla="val -655"/>
            </a:avLst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34" idx="2"/>
          </p:cNvCxnSpPr>
          <p:nvPr/>
        </p:nvCxnSpPr>
        <p:spPr>
          <a:xfrm rot="16200000" flipH="1">
            <a:off x="14422696" y="8986945"/>
            <a:ext cx="2796320" cy="362287"/>
          </a:xfrm>
          <a:prstGeom prst="bentConnector3">
            <a:avLst>
              <a:gd name="adj1" fmla="val 100376"/>
            </a:avLst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1219200" y="8364862"/>
            <a:ext cx="3505200" cy="1713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196398" y="8073880"/>
            <a:ext cx="2965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Adder </a:t>
            </a:r>
            <a:r>
              <a:rPr lang="ko-KR" altLang="en-US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함수 시작</a:t>
            </a:r>
          </a:p>
        </p:txBody>
      </p:sp>
      <p:cxnSp>
        <p:nvCxnSpPr>
          <p:cNvPr id="58" name="꺾인 연결선 57"/>
          <p:cNvCxnSpPr/>
          <p:nvPr/>
        </p:nvCxnSpPr>
        <p:spPr>
          <a:xfrm flipV="1">
            <a:off x="8169698" y="5409913"/>
            <a:ext cx="10042102" cy="2920713"/>
          </a:xfrm>
          <a:prstGeom prst="bentConnector3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502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84E77-0E3B-AD6A-05D4-C99566FF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12B1273-245D-F42B-EC3F-8634D19A5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451B7B1-433A-8834-2A85-B168AE9FA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A22FE57-A02A-3462-66F3-FAA72A8E9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7E6BB3F9-E0B3-0237-DC2E-2C67DBBA0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48563AED-30AF-F50F-BBA7-97F320BB5D6B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1to10 adder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2819400"/>
            <a:ext cx="6985000" cy="83870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2592567"/>
            <a:ext cx="11887200" cy="872602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143000" y="3886200"/>
            <a:ext cx="6705600" cy="2057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꺾인 연결선 14"/>
          <p:cNvCxnSpPr/>
          <p:nvPr/>
        </p:nvCxnSpPr>
        <p:spPr>
          <a:xfrm>
            <a:off x="7848600" y="4114800"/>
            <a:ext cx="6172200" cy="1648611"/>
          </a:xfrm>
          <a:prstGeom prst="bentConnector3">
            <a:avLst>
              <a:gd name="adj1" fmla="val 93243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62035" y="3243618"/>
            <a:ext cx="18389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err="1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Sp</a:t>
            </a:r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192</a:t>
            </a:r>
            <a:endParaRPr lang="ko-KR" altLang="en-US" sz="3200" dirty="0" smtClean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4020800" y="5181600"/>
            <a:ext cx="6858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7848600" y="4400496"/>
            <a:ext cx="17540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220(55)</a:t>
            </a:r>
          </a:p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216(54)</a:t>
            </a:r>
            <a:endParaRPr lang="ko-KR" altLang="en-US" sz="3200" dirty="0" smtClean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38" name="직선 화살표 연결선 37"/>
          <p:cNvCxnSpPr>
            <a:stCxn id="24" idx="2"/>
          </p:cNvCxnSpPr>
          <p:nvPr/>
        </p:nvCxnSpPr>
        <p:spPr>
          <a:xfrm>
            <a:off x="14363700" y="5562600"/>
            <a:ext cx="723900" cy="4038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14706600" y="5867400"/>
            <a:ext cx="6858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화살표 연결선 40"/>
          <p:cNvCxnSpPr>
            <a:stCxn id="39" idx="2"/>
          </p:cNvCxnSpPr>
          <p:nvPr/>
        </p:nvCxnSpPr>
        <p:spPr>
          <a:xfrm>
            <a:off x="15049500" y="6248400"/>
            <a:ext cx="800100" cy="29700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15392400" y="5867400"/>
            <a:ext cx="7620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16192500" y="6057900"/>
            <a:ext cx="27051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6489252" y="5411230"/>
            <a:ext cx="1455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Sp+32</a:t>
            </a:r>
            <a:endParaRPr lang="ko-KR" altLang="en-US" sz="3200" dirty="0" smtClean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143000" y="5996005"/>
            <a:ext cx="6705600" cy="200499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16192500" y="6248400"/>
            <a:ext cx="723900" cy="38100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16916400" y="6629400"/>
            <a:ext cx="666750" cy="32617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화살표 연결선 50"/>
          <p:cNvCxnSpPr>
            <a:stCxn id="48" idx="2"/>
          </p:cNvCxnSpPr>
          <p:nvPr/>
        </p:nvCxnSpPr>
        <p:spPr>
          <a:xfrm>
            <a:off x="16554450" y="6629400"/>
            <a:ext cx="904875" cy="373380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49" idx="2"/>
          </p:cNvCxnSpPr>
          <p:nvPr/>
        </p:nvCxnSpPr>
        <p:spPr>
          <a:xfrm>
            <a:off x="17249775" y="6955577"/>
            <a:ext cx="852487" cy="3021717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17945100" y="10282094"/>
            <a:ext cx="571500" cy="38590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화살표 연결선 55"/>
          <p:cNvCxnSpPr/>
          <p:nvPr/>
        </p:nvCxnSpPr>
        <p:spPr>
          <a:xfrm flipV="1">
            <a:off x="18288000" y="7318572"/>
            <a:ext cx="457200" cy="296352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18531016" y="9875946"/>
            <a:ext cx="571500" cy="38590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화살표 연결선 57"/>
          <p:cNvCxnSpPr/>
          <p:nvPr/>
        </p:nvCxnSpPr>
        <p:spPr>
          <a:xfrm flipV="1">
            <a:off x="18873916" y="7696200"/>
            <a:ext cx="599946" cy="217974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293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78A7-93BE-6C03-8A96-49C11466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007F925-B023-C5EF-97AC-81FFE7F38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4C879EC-A22B-1135-470F-C29A9D919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8FA251D-F695-13F1-E17D-45EEB19CB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FB6E1E06-A8D6-6246-4C8E-2EEB5282B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FFA8865C-057D-5DF6-B6FE-000690A676B2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1to10 adder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2819400"/>
            <a:ext cx="6985000" cy="838709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200" y="2133600"/>
            <a:ext cx="9982200" cy="967629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295400" y="8001000"/>
            <a:ext cx="6400800" cy="990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4630400" y="7010400"/>
            <a:ext cx="838200" cy="762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+</a:t>
            </a:r>
            <a:endParaRPr lang="ko-KR" altLang="en-US" sz="280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15468600" y="7543800"/>
            <a:ext cx="28194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16002000" y="6553200"/>
            <a:ext cx="457200" cy="990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01000" y="8991600"/>
            <a:ext cx="17540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220(55)</a:t>
            </a:r>
          </a:p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216(54)</a:t>
            </a:r>
            <a:endParaRPr lang="ko-KR" altLang="en-US" sz="3200" dirty="0" smtClean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320906" y="9829800"/>
            <a:ext cx="838200" cy="38100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17159106" y="9442621"/>
            <a:ext cx="838200" cy="38100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>
            <a:stCxn id="22" idx="0"/>
          </p:cNvCxnSpPr>
          <p:nvPr/>
        </p:nvCxnSpPr>
        <p:spPr>
          <a:xfrm flipV="1">
            <a:off x="16740006" y="5181600"/>
            <a:ext cx="838200" cy="464820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28" idx="0"/>
            <a:endCxn id="35" idx="2"/>
          </p:cNvCxnSpPr>
          <p:nvPr/>
        </p:nvCxnSpPr>
        <p:spPr>
          <a:xfrm flipV="1">
            <a:off x="17578206" y="6143655"/>
            <a:ext cx="777928" cy="329896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1295400" y="9067800"/>
            <a:ext cx="6400800" cy="147320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17997306" y="5743545"/>
            <a:ext cx="717656" cy="40011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latin typeface="Pretendard SemiBold" panose="020B0600000101010101" charset="-127"/>
                <a:ea typeface="Pretendard SemiBold" panose="020B0600000101010101" charset="-127"/>
              </a:rPr>
              <a:t>256</a:t>
            </a:r>
            <a:endParaRPr lang="ko-KR" altLang="en-US" sz="2000" dirty="0" smtClean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8733497" y="5376386"/>
            <a:ext cx="717656" cy="40011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latin typeface="Pretendard SemiBold" panose="020B0600000101010101" charset="-127"/>
                <a:ea typeface="Pretendard SemiBold" panose="020B0600000101010101" charset="-127"/>
              </a:rPr>
              <a:t>224</a:t>
            </a:r>
            <a:endParaRPr lang="ko-KR" altLang="en-US" sz="2000" dirty="0" smtClean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40" name="직선 화살표 연결선 39"/>
          <p:cNvCxnSpPr>
            <a:endCxn id="38" idx="1"/>
          </p:cNvCxnSpPr>
          <p:nvPr/>
        </p:nvCxnSpPr>
        <p:spPr>
          <a:xfrm>
            <a:off x="16230600" y="5576441"/>
            <a:ext cx="2502897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1295400" y="10972800"/>
            <a:ext cx="43434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19451153" y="2514600"/>
            <a:ext cx="894247" cy="457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1676400" y="11074662"/>
            <a:ext cx="2518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err="1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pc_next</a:t>
            </a:r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</a:t>
            </a:r>
            <a:r>
              <a:rPr lang="en-US" altLang="ko-KR" sz="3200" dirty="0" err="1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ra</a:t>
            </a:r>
            <a:endParaRPr lang="ko-KR" altLang="en-US" sz="3200" dirty="0" smtClean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31419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46D64-EB13-CC6D-3CC9-4D9FAA2CA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FE6AAF6-EBE1-ABF4-AEFB-C5BC4BCA5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7A99DBBB-EE35-7F90-862A-70514A8098E7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1to10 adder</a:t>
            </a: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5373A56B-D091-98DA-A22B-0FAAB2E50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2E65824F-CB19-D7BE-CE5A-30D6B93FB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06FBF297-B771-3302-2EE9-BE29DFA37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535" y="2819400"/>
            <a:ext cx="8199726" cy="81534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1400" y="2438400"/>
            <a:ext cx="9144000" cy="892241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219200" y="8382000"/>
            <a:ext cx="4038600" cy="609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638800" y="7749570"/>
            <a:ext cx="29899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현재 </a:t>
            </a:r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s0 = 256</a:t>
            </a:r>
          </a:p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(S0-24)/4 =58</a:t>
            </a:r>
          </a:p>
          <a:p>
            <a:r>
              <a:rPr lang="en-US" altLang="ko-KR" sz="320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S0-20)/</a:t>
            </a:r>
            <a:r>
              <a:rPr lang="en-US" altLang="ko-KR" sz="320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4 =</a:t>
            </a:r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59</a:t>
            </a:r>
            <a:endParaRPr lang="ko-KR" altLang="en-US" sz="3200" dirty="0" smtClean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163800" y="6172200"/>
            <a:ext cx="7620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>
            <a:stCxn id="6" idx="2"/>
          </p:cNvCxnSpPr>
          <p:nvPr/>
        </p:nvCxnSpPr>
        <p:spPr>
          <a:xfrm>
            <a:off x="15544800" y="6553200"/>
            <a:ext cx="685800" cy="3429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15954632" y="10210800"/>
            <a:ext cx="7620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23" idx="0"/>
          </p:cNvCxnSpPr>
          <p:nvPr/>
        </p:nvCxnSpPr>
        <p:spPr>
          <a:xfrm flipV="1">
            <a:off x="16335632" y="7162800"/>
            <a:ext cx="656968" cy="3048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1219200" y="8991600"/>
            <a:ext cx="3505200" cy="32763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>
            <a:stCxn id="11" idx="3"/>
          </p:cNvCxnSpPr>
          <p:nvPr/>
        </p:nvCxnSpPr>
        <p:spPr>
          <a:xfrm flipV="1">
            <a:off x="4724400" y="7467600"/>
            <a:ext cx="12801600" cy="1687815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4950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6F7F-34A7-9CF5-2B9E-B338C08E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C7ADD41-35AA-A3A3-2331-FD4E64A64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B7775D2A-A733-14B6-C303-18FB6EE670DF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1to10 adder</a:t>
            </a:r>
          </a:p>
        </p:txBody>
      </p:sp>
      <p:pic>
        <p:nvPicPr>
          <p:cNvPr id="18" name="Picture 6">
            <a:extLst>
              <a:ext uri="{FF2B5EF4-FFF2-40B4-BE49-F238E27FC236}">
                <a16:creationId xmlns:a16="http://schemas.microsoft.com/office/drawing/2014/main" id="{5373A56B-D091-98DA-A22B-0FAAB2E50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2E65824F-CB19-D7BE-CE5A-30D6B93FB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22" name="Picture 8">
            <a:extLst>
              <a:ext uri="{FF2B5EF4-FFF2-40B4-BE49-F238E27FC236}">
                <a16:creationId xmlns:a16="http://schemas.microsoft.com/office/drawing/2014/main" id="{06FBF297-B771-3302-2EE9-BE29DFA37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2819400"/>
            <a:ext cx="8429625" cy="8382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4600" y="3412524"/>
            <a:ext cx="13928540" cy="6781800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22250400" y="5715000"/>
            <a:ext cx="181274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371600" y="9525000"/>
            <a:ext cx="49530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/>
          <p:cNvCxnSpPr>
            <a:stCxn id="15" idx="3"/>
            <a:endCxn id="13" idx="1"/>
          </p:cNvCxnSpPr>
          <p:nvPr/>
        </p:nvCxnSpPr>
        <p:spPr>
          <a:xfrm flipV="1">
            <a:off x="6324600" y="5905500"/>
            <a:ext cx="15925800" cy="37719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48400" y="9645534"/>
            <a:ext cx="40046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a4=&lt;a5 </a:t>
            </a:r>
            <a:r>
              <a:rPr lang="ko-KR" altLang="en-US" sz="3200" dirty="0" err="1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일때까지</a:t>
            </a:r>
            <a:r>
              <a:rPr lang="ko-KR" altLang="en-US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반복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3258800" y="8763000"/>
            <a:ext cx="10804340" cy="762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/>
          <p:cNvCxnSpPr>
            <a:stCxn id="15" idx="3"/>
            <a:endCxn id="30" idx="1"/>
          </p:cNvCxnSpPr>
          <p:nvPr/>
        </p:nvCxnSpPr>
        <p:spPr>
          <a:xfrm flipV="1">
            <a:off x="6324600" y="9144000"/>
            <a:ext cx="6934200" cy="5334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66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6F7F-34A7-9CF5-2B9E-B338C08E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C7ADD41-35AA-A3A3-2331-FD4E64A64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B7775D2A-A733-14B6-C303-18FB6EE670DF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1to10 adder</a:t>
            </a:r>
          </a:p>
        </p:txBody>
      </p:sp>
      <p:pic>
        <p:nvPicPr>
          <p:cNvPr id="18" name="Picture 6">
            <a:extLst>
              <a:ext uri="{FF2B5EF4-FFF2-40B4-BE49-F238E27FC236}">
                <a16:creationId xmlns:a16="http://schemas.microsoft.com/office/drawing/2014/main" id="{5373A56B-D091-98DA-A22B-0FAAB2E50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2E65824F-CB19-D7BE-CE5A-30D6B93FB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22" name="Picture 8">
            <a:extLst>
              <a:ext uri="{FF2B5EF4-FFF2-40B4-BE49-F238E27FC236}">
                <a16:creationId xmlns:a16="http://schemas.microsoft.com/office/drawing/2014/main" id="{06FBF297-B771-3302-2EE9-BE29DFA37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2819400"/>
            <a:ext cx="8429625" cy="8382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0800" y="2743200"/>
            <a:ext cx="13007442" cy="85852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371600" y="9829800"/>
            <a:ext cx="43434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>
            <a:stCxn id="5" idx="3"/>
          </p:cNvCxnSpPr>
          <p:nvPr/>
        </p:nvCxnSpPr>
        <p:spPr>
          <a:xfrm flipV="1">
            <a:off x="5715000" y="7620000"/>
            <a:ext cx="10999521" cy="23622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1371600" y="10134600"/>
            <a:ext cx="8153400" cy="685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꺾인 연결선 10"/>
          <p:cNvCxnSpPr>
            <a:stCxn id="8" idx="3"/>
          </p:cNvCxnSpPr>
          <p:nvPr/>
        </p:nvCxnSpPr>
        <p:spPr>
          <a:xfrm flipV="1">
            <a:off x="9525000" y="7696200"/>
            <a:ext cx="10998200" cy="2781300"/>
          </a:xfrm>
          <a:prstGeom prst="bentConnector3">
            <a:avLst>
              <a:gd name="adj1" fmla="val 99997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20676921" y="7620000"/>
            <a:ext cx="533400" cy="2667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15000" y="8442573"/>
            <a:ext cx="397737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LUI</a:t>
            </a:r>
            <a:r>
              <a:rPr lang="ko-KR" altLang="en-US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</a:t>
            </a:r>
            <a:r>
              <a:rPr lang="en-US" altLang="ko-KR" sz="3200" dirty="0" err="1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Imm</a:t>
            </a:r>
            <a:r>
              <a:rPr lang="ko-KR" altLang="en-US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은 </a:t>
            </a:r>
            <a:r>
              <a:rPr lang="en-US" altLang="ko-KR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20bit</a:t>
            </a:r>
            <a:r>
              <a:rPr lang="ko-KR" altLang="en-US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만 </a:t>
            </a:r>
            <a:endParaRPr lang="en-US" altLang="ko-KR" sz="3200" dirty="0" smtClean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l"/>
            <a:r>
              <a:rPr lang="ko-KR" altLang="en-US" sz="3200" dirty="0" smtClean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가능하기 때문</a:t>
            </a:r>
          </a:p>
        </p:txBody>
      </p:sp>
    </p:spTree>
    <p:extLst>
      <p:ext uri="{BB962C8B-B14F-4D97-AF65-F5344CB8AC3E}">
        <p14:creationId xmlns:p14="http://schemas.microsoft.com/office/powerpoint/2010/main" val="7465338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7638-C4E3-E5B9-06C9-D11CDC7F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A1EFFDE-0554-D917-61D7-7017B49C8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373A56B-D091-98DA-A22B-0FAAB2E50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E65824F-CB19-D7BE-CE5A-30D6B93FB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6FBF297-B771-3302-2EE9-BE29DFA37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62753DA0-11CB-3508-7A27-1643F15A1201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Trouble</a:t>
            </a:r>
            <a:r>
              <a:rPr lang="ko-KR" alt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shooti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ng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9FB75E-C4E2-ED2F-3FC8-248C16340E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035" y="3162300"/>
            <a:ext cx="17289930" cy="3695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CB79C6-14BA-4617-352A-2161A455A8C9}"/>
              </a:ext>
            </a:extLst>
          </p:cNvPr>
          <p:cNvSpPr txBox="1"/>
          <p:nvPr/>
        </p:nvSpPr>
        <p:spPr>
          <a:xfrm>
            <a:off x="4592804" y="8202101"/>
            <a:ext cx="15198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B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타입 동작일때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rs1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이나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rs2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가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값이라면 비교할 때 </a:t>
            </a:r>
            <a:r>
              <a:rPr lang="en-US" altLang="ko-KR" sz="3200" dirty="0" err="1">
                <a:latin typeface="Pretendard SemiBold" panose="020B0600000101010101" charset="-127"/>
                <a:ea typeface="Pretendard SemiBold" panose="020B0600000101010101" charset="-127"/>
              </a:rPr>
              <a:t>b_taken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이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x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가 출력되는 문제가 발생</a:t>
            </a:r>
          </a:p>
        </p:txBody>
      </p:sp>
    </p:spTree>
    <p:extLst>
      <p:ext uri="{BB962C8B-B14F-4D97-AF65-F5344CB8AC3E}">
        <p14:creationId xmlns:p14="http://schemas.microsoft.com/office/powerpoint/2010/main" val="2128525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7CC89-7020-BB0E-5A5E-84A1668C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65AD13D-34FC-7FD1-3231-86C3CBCAB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784489AA-C028-89A7-D9E1-648A02730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18CFB68-DBE7-9F5E-FEDF-BDF514AAC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95CEB2DB-6D52-90EF-9059-C1AA1E201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293DA415-8822-B6B1-55AD-9047A3F6CECD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Trouble</a:t>
            </a:r>
            <a:r>
              <a:rPr lang="ko-KR" alt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shooti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ng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D67696-8D77-DC37-1C8E-AEFE48AA4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038600"/>
            <a:ext cx="9965766" cy="3683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A34A17-020A-C2E5-34F3-2A606F913C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49600" y="2759136"/>
            <a:ext cx="6934200" cy="8060567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A39112A-861D-BEBD-A2B9-2B9E82F37A34}"/>
              </a:ext>
            </a:extLst>
          </p:cNvPr>
          <p:cNvSpPr/>
          <p:nvPr/>
        </p:nvSpPr>
        <p:spPr>
          <a:xfrm>
            <a:off x="12192000" y="4495800"/>
            <a:ext cx="2743200" cy="2667000"/>
          </a:xfrm>
          <a:prstGeom prst="right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00B19-726B-D133-DB77-D8D17941E886}"/>
              </a:ext>
            </a:extLst>
          </p:cNvPr>
          <p:cNvSpPr txBox="1"/>
          <p:nvPr/>
        </p:nvSpPr>
        <p:spPr>
          <a:xfrm>
            <a:off x="6842920" y="8432922"/>
            <a:ext cx="8092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 dirty="0" err="1">
                <a:latin typeface="Pretendard SemiBold" panose="020B0600000101010101" charset="-127"/>
                <a:ea typeface="Pretendard SemiBold" panose="020B0600000101010101" charset="-127"/>
              </a:rPr>
              <a:t>b_taken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출력을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If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문을 사용하여 출력하도록 변경</a:t>
            </a:r>
          </a:p>
        </p:txBody>
      </p:sp>
    </p:spTree>
    <p:extLst>
      <p:ext uri="{BB962C8B-B14F-4D97-AF65-F5344CB8AC3E}">
        <p14:creationId xmlns:p14="http://schemas.microsoft.com/office/powerpoint/2010/main" val="14359720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9822-4493-98AD-780E-DEF3ACD6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43FA3D0-7A9F-4677-3A04-826B0228E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3ED96FC-ED59-B003-F63A-24AD1AF87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B40209D-3FB7-81C7-F578-3710FB684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08A2C1F-C93D-09FE-3448-B907FF008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EBB0C042-A8C7-F6E5-4FDA-5D10771926C8}"/>
              </a:ext>
            </a:extLst>
          </p:cNvPr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Trouble</a:t>
            </a:r>
            <a:r>
              <a:rPr lang="ko-KR" alt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shooti</a:t>
            </a: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ng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910750-8290-0909-8BCA-6D972EA0E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2246" y="2209800"/>
            <a:ext cx="17289930" cy="3695700"/>
          </a:xfrm>
          <a:prstGeom prst="rect">
            <a:avLst/>
          </a:prstGeom>
        </p:spPr>
      </p:pic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B5AB5664-B5B6-BA14-1BD7-080513D57245}"/>
              </a:ext>
            </a:extLst>
          </p:cNvPr>
          <p:cNvSpPr/>
          <p:nvPr/>
        </p:nvSpPr>
        <p:spPr>
          <a:xfrm>
            <a:off x="11734800" y="6172200"/>
            <a:ext cx="1905000" cy="1435100"/>
          </a:xfrm>
          <a:prstGeom prst="down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7149779-587C-2D03-E1F9-9C0CE1E2E4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7649" y="7734300"/>
            <a:ext cx="17748701" cy="418480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5594E7-5A0E-8D90-0540-8ABC48507595}"/>
              </a:ext>
            </a:extLst>
          </p:cNvPr>
          <p:cNvSpPr/>
          <p:nvPr/>
        </p:nvSpPr>
        <p:spPr>
          <a:xfrm>
            <a:off x="3317649" y="2209800"/>
            <a:ext cx="17510351" cy="53340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49996A-4E90-B077-90CB-897302E2E4C5}"/>
              </a:ext>
            </a:extLst>
          </p:cNvPr>
          <p:cNvSpPr/>
          <p:nvPr/>
        </p:nvSpPr>
        <p:spPr>
          <a:xfrm>
            <a:off x="3430474" y="7751877"/>
            <a:ext cx="17510351" cy="53340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3480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533400" y="-38100"/>
            <a:ext cx="217170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고찰</a:t>
            </a:r>
            <a:endParaRPr 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1F03B8-E3A5-E427-B4F2-894965CF7823}"/>
              </a:ext>
            </a:extLst>
          </p:cNvPr>
          <p:cNvSpPr txBox="1"/>
          <p:nvPr/>
        </p:nvSpPr>
        <p:spPr>
          <a:xfrm>
            <a:off x="1714500" y="4868238"/>
            <a:ext cx="20955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buAutoNum type="arabicPeriod"/>
            </a:pP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RV32I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를 구현하면서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BEQ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같은 분기 명령이 단순 비교가 아니라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PC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변경과 연결된다는 점을 이해하게 되었고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데이터 흐름 전체를 고려해야 정상 동작한다는 것을 알게 되었다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</a:p>
          <a:p>
            <a:pPr marL="514350" indent="-514350" algn="l">
              <a:buAutoNum type="arabicPeriod"/>
            </a:pP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marL="514350" indent="-514350" algn="l">
              <a:buAutoNum type="arabicPeriod"/>
            </a:pP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C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언어로 작성된 코드를 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RV32I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구조로 변환하는 과정에서 한 줄의 코드도 여러 하드웨어 동작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레지스터 읽기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, ALU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연산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메모리 접근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으로 나뉜다는 점을 체감했다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</a:p>
          <a:p>
            <a:pPr marL="514350" indent="-514350" algn="l">
              <a:buAutoNum type="arabicPeriod"/>
            </a:pPr>
            <a:endParaRPr lang="en-US" altLang="ko-KR" sz="3200" dirty="0"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marL="514350" indent="-514350" algn="l">
              <a:buAutoNum type="arabicPeriod"/>
            </a:pP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전체 설계에서 작은 문법 오류보다도 구조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데이터 흐름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신호 연결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를 제대로 잡는 것이 더 중요하다는 것을 느꼈다</a:t>
            </a:r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246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571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3200" dirty="0" smtClean="0">
            <a:latin typeface="Pretendard SemiBold" panose="020B0600000101010101" charset="-127"/>
            <a:ea typeface="Pretendard SemiBold" panose="020B0600000101010101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1498</Words>
  <Application>Microsoft Office PowerPoint</Application>
  <PresentationFormat>사용자 지정</PresentationFormat>
  <Paragraphs>591</Paragraphs>
  <Slides>45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4" baseType="lpstr">
      <vt:lpstr>Pretendard Bold</vt:lpstr>
      <vt:lpstr>Arial</vt:lpstr>
      <vt:lpstr>Pretendard Regular</vt:lpstr>
      <vt:lpstr>Pretendard ExtraLight</vt:lpstr>
      <vt:lpstr>Calibri</vt:lpstr>
      <vt:lpstr>Source Han Sans KR Bold</vt:lpstr>
      <vt:lpstr>Pretendard SemiBold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43</cp:revision>
  <dcterms:created xsi:type="dcterms:W3CDTF">2006-08-16T00:00:00Z</dcterms:created>
  <dcterms:modified xsi:type="dcterms:W3CDTF">2026-05-26T07:01:48Z</dcterms:modified>
</cp:coreProperties>
</file>